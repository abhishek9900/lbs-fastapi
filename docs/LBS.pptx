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9283700" cy="6997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">
          <p15:clr>
            <a:srgbClr val="A4A3A4"/>
          </p15:clr>
        </p15:guide>
        <p15:guide id="2" pos="233">
          <p15:clr>
            <a:srgbClr val="A4A3A4"/>
          </p15:clr>
        </p15:guide>
      </p15:sldGuideLst>
    </p:ext>
    <p:ext uri="{2D200454-40CA-4A62-9FC3-DE9A4176ACB9}">
      <p15:notesGuideLst>
        <p15:guide id="1" orient="horz" pos="2204">
          <p15:clr>
            <a:srgbClr val="A4A3A4"/>
          </p15:clr>
        </p15:guide>
        <p15:guide id="2" pos="2924">
          <p15:clr>
            <a:srgbClr val="A4A3A4"/>
          </p15:clr>
        </p15:guide>
      </p15:notesGuideLst>
    </p:ext>
    <p:ext uri="GoogleSlidesCustomDataVersion2">
      <go:slidesCustomData xmlns:go="http://customooxmlschemas.google.com/" r:id="rId28" roundtripDataSignature="AMtx7mgoGj9oc1u502PY+HaByba6N0jH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4F331F-3DD7-484E-81FD-3C7EDD434BB2}">
  <a:tblStyle styleId="{204F331F-3DD7-484E-81FD-3C7EDD434B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" orient="horz"/>
        <p:guide pos="233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204" orient="horz"/>
        <p:guide pos="29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0227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260975" y="0"/>
            <a:ext cx="40227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14575" y="527050"/>
            <a:ext cx="4659313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36663" y="3324225"/>
            <a:ext cx="6810375" cy="314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650038"/>
            <a:ext cx="4022725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50" lIns="93700" spcFirstLastPara="1" rIns="93700" wrap="square" tIns="46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260975" y="6650038"/>
            <a:ext cx="4022725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50" lIns="93700" spcFirstLastPara="1" rIns="93700" wrap="square" tIns="468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2314575" y="527050"/>
            <a:ext cx="4659313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1236663" y="3324225"/>
            <a:ext cx="6810375" cy="314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5260975" y="6650038"/>
            <a:ext cx="4022725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50" lIns="93700" spcFirstLastPara="1" rIns="93700" wrap="square" tIns="468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1236663" y="3324225"/>
            <a:ext cx="6810375" cy="314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2314575" y="527050"/>
            <a:ext cx="4659313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4fc6c2d3f_0_85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f4fc6c2d3f_0_85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4fc6c2d3f_0_145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f4fc6c2d3f_0_145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5812c91a_0_112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f55812c91a_0_112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55812c91a_0_1193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f55812c91a_0_1193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/>
          <p:nvPr>
            <p:ph idx="1" type="body"/>
          </p:nvPr>
        </p:nvSpPr>
        <p:spPr>
          <a:xfrm>
            <a:off x="1236663" y="3324225"/>
            <a:ext cx="6810375" cy="314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3:notes"/>
          <p:cNvSpPr/>
          <p:nvPr>
            <p:ph idx="2" type="sldImg"/>
          </p:nvPr>
        </p:nvSpPr>
        <p:spPr>
          <a:xfrm>
            <a:off x="2314575" y="527050"/>
            <a:ext cx="4659313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52cd0ed50_1_106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f52cd0ed50_1_106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52cd0ed50_1_153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f52cd0ed50_1_153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163d33b3_0_56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f5163d33b3_0_56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:notes"/>
          <p:cNvSpPr txBox="1"/>
          <p:nvPr>
            <p:ph idx="1" type="body"/>
          </p:nvPr>
        </p:nvSpPr>
        <p:spPr>
          <a:xfrm>
            <a:off x="1236663" y="3324225"/>
            <a:ext cx="6810375" cy="314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4:notes"/>
          <p:cNvSpPr/>
          <p:nvPr>
            <p:ph idx="2" type="sldImg"/>
          </p:nvPr>
        </p:nvSpPr>
        <p:spPr>
          <a:xfrm>
            <a:off x="2314575" y="527050"/>
            <a:ext cx="4659313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51dd656f3_0_39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f51dd656f3_0_39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5163d33b3_0_157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g3f5163d33b3_0_157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52cd0ed50_0_77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g3f52cd0ed50_0_77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52cd0ed50_1_129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g3f52cd0ed50_1_129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51dd656f3_0_174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g3f51dd656f3_0_174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52cd0ed50_1_178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g3f52cd0ed50_1_178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52cd0ed50_1_25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f52cd0ed50_1_25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51dd656f3_0_306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g3f51dd656f3_0_306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51dd656f3_0_363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f51dd656f3_0_363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52cd0ed50_0_0:notes"/>
          <p:cNvSpPr txBox="1"/>
          <p:nvPr>
            <p:ph idx="1" type="body"/>
          </p:nvPr>
        </p:nvSpPr>
        <p:spPr>
          <a:xfrm>
            <a:off x="1236663" y="3324225"/>
            <a:ext cx="68103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00" spcFirstLastPara="1" rIns="93700" wrap="square" tIns="46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f52cd0ed50_0_0:notes"/>
          <p:cNvSpPr/>
          <p:nvPr>
            <p:ph idx="2" type="sldImg"/>
          </p:nvPr>
        </p:nvSpPr>
        <p:spPr>
          <a:xfrm>
            <a:off x="2314575" y="527050"/>
            <a:ext cx="46593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81700" y="2049961"/>
            <a:ext cx="11394229" cy="769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81700" y="4343412"/>
            <a:ext cx="11390489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b="1" sz="2800">
                <a:solidFill>
                  <a:srgbClr val="9A0000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6" name="Google Shape;16;p11"/>
          <p:cNvSpPr/>
          <p:nvPr/>
        </p:nvSpPr>
        <p:spPr>
          <a:xfrm>
            <a:off x="11406293" y="6421120"/>
            <a:ext cx="785707" cy="4368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" name="Google Shape;17;p11"/>
          <p:cNvCxnSpPr/>
          <p:nvPr/>
        </p:nvCxnSpPr>
        <p:spPr>
          <a:xfrm>
            <a:off x="2" y="5140802"/>
            <a:ext cx="12112977" cy="2641"/>
          </a:xfrm>
          <a:prstGeom prst="straightConnector1">
            <a:avLst/>
          </a:prstGeom>
          <a:noFill/>
          <a:ln cap="flat" cmpd="sng" w="44450">
            <a:solidFill>
              <a:srgbClr val="8B8A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uniLogo.pdf" id="18" name="Google Shape;1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27083" y="5658911"/>
            <a:ext cx="2288049" cy="89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Line 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title"/>
          </p:nvPr>
        </p:nvSpPr>
        <p:spPr>
          <a:xfrm>
            <a:off x="381600" y="381600"/>
            <a:ext cx="114365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body"/>
          </p:nvPr>
        </p:nvSpPr>
        <p:spPr>
          <a:xfrm>
            <a:off x="381600" y="1242000"/>
            <a:ext cx="11436578" cy="52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2">
          <p15:clr>
            <a:srgbClr val="FBAE40"/>
          </p15:clr>
        </p15:guide>
        <p15:guide id="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out logo">
  <p:cSld name="Title Slide without log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381700" y="2049961"/>
            <a:ext cx="11394229" cy="769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381700" y="4343401"/>
            <a:ext cx="11390489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b="1" sz="2800">
                <a:solidFill>
                  <a:srgbClr val="9A0000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13"/>
          <p:cNvSpPr/>
          <p:nvPr/>
        </p:nvSpPr>
        <p:spPr>
          <a:xfrm>
            <a:off x="11406293" y="6421120"/>
            <a:ext cx="785707" cy="4368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6" name="Google Shape;26;p13"/>
          <p:cNvCxnSpPr/>
          <p:nvPr/>
        </p:nvCxnSpPr>
        <p:spPr>
          <a:xfrm>
            <a:off x="2" y="5140802"/>
            <a:ext cx="12112977" cy="2641"/>
          </a:xfrm>
          <a:prstGeom prst="straightConnector1">
            <a:avLst/>
          </a:prstGeom>
          <a:noFill/>
          <a:ln cap="flat" cmpd="sng" w="44450">
            <a:solidFill>
              <a:srgbClr val="8B8A7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Line Title and Content">
  <p:cSld name="2-Line 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381699" y="381002"/>
            <a:ext cx="114372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381600" y="1850400"/>
            <a:ext cx="11437200" cy="46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381699" y="381600"/>
            <a:ext cx="1143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Line Title and No Content">
  <p:cSld name="2-Line Title and N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381699" y="381001"/>
            <a:ext cx="114372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2-Line Title">
  <p:cSld name="Centered 2-Line 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381699" y="381002"/>
            <a:ext cx="1143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381699" y="381600"/>
            <a:ext cx="1143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381700" y="1295402"/>
            <a:ext cx="5507566" cy="5224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6261064" y="1295402"/>
            <a:ext cx="5571271" cy="5224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w 2-Line Heading">
  <p:cSld name="Two Content w 2-Line Heading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381600" y="381001"/>
            <a:ext cx="114372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1700" y="1874519"/>
            <a:ext cx="5507566" cy="463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261064" y="1883664"/>
            <a:ext cx="5571271" cy="4626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381700" y="3072600"/>
            <a:ext cx="11379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IS Color &amp; Shapes">
  <p:cSld name="AIS Color &amp; Shape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type="title"/>
          </p:nvPr>
        </p:nvSpPr>
        <p:spPr>
          <a:xfrm>
            <a:off x="381699" y="381600"/>
            <a:ext cx="1143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" type="body"/>
          </p:nvPr>
        </p:nvSpPr>
        <p:spPr>
          <a:xfrm>
            <a:off x="381700" y="1242000"/>
            <a:ext cx="11437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57200" lvl="0" marL="4572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Char char="▪"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>
  <p:cSld name="Titelfoli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0af1ff8e2_0_31"/>
          <p:cNvSpPr txBox="1"/>
          <p:nvPr>
            <p:ph type="ctrTitle"/>
          </p:nvPr>
        </p:nvSpPr>
        <p:spPr>
          <a:xfrm>
            <a:off x="738717" y="1238251"/>
            <a:ext cx="10744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2" name="Google Shape;52;g3e0af1ff8e2_0_31"/>
          <p:cNvSpPr txBox="1"/>
          <p:nvPr>
            <p:ph idx="1" type="subTitle"/>
          </p:nvPr>
        </p:nvSpPr>
        <p:spPr>
          <a:xfrm>
            <a:off x="1009651" y="2827338"/>
            <a:ext cx="102024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9pPr>
          </a:lstStyle>
          <a:p/>
        </p:txBody>
      </p:sp>
      <p:sp>
        <p:nvSpPr>
          <p:cNvPr id="53" name="Google Shape;53;g3e0af1ff8e2_0_31"/>
          <p:cNvSpPr txBox="1"/>
          <p:nvPr>
            <p:ph idx="2" type="body"/>
          </p:nvPr>
        </p:nvSpPr>
        <p:spPr>
          <a:xfrm>
            <a:off x="2260600" y="3886201"/>
            <a:ext cx="7620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5pPr>
            <a:lvl6pPr indent="-3810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6pPr>
            <a:lvl7pPr indent="-3810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7pPr>
            <a:lvl8pPr indent="-3810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8pPr>
            <a:lvl9pPr indent="-3810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9pPr>
          </a:lstStyle>
          <a:p/>
        </p:txBody>
      </p:sp>
      <p:sp>
        <p:nvSpPr>
          <p:cNvPr id="54" name="Google Shape;54;g3e0af1ff8e2_0_31"/>
          <p:cNvSpPr txBox="1"/>
          <p:nvPr>
            <p:ph idx="12" type="sldNum"/>
          </p:nvPr>
        </p:nvSpPr>
        <p:spPr>
          <a:xfrm>
            <a:off x="10958003" y="6540878"/>
            <a:ext cx="1233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Bildergebnis für logo uni bonn neu" id="55" name="Google Shape;55;g3e0af1ff8e2_0_31"/>
          <p:cNvSpPr/>
          <p:nvPr/>
        </p:nvSpPr>
        <p:spPr>
          <a:xfrm>
            <a:off x="9197261" y="101600"/>
            <a:ext cx="279152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D:\Texte\Studiengang\Großinstitut\Logo\_igg_logo_CMYK_150dpi.jpg" id="56" name="Google Shape;56;g3e0af1ff8e2_0_31"/>
          <p:cNvSpPr/>
          <p:nvPr/>
        </p:nvSpPr>
        <p:spPr>
          <a:xfrm>
            <a:off x="203184" y="101600"/>
            <a:ext cx="135490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Inhalt">
  <p:cSld name="Titel Inhal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0af1ff8e2_0_152"/>
          <p:cNvSpPr txBox="1"/>
          <p:nvPr>
            <p:ph type="title"/>
          </p:nvPr>
        </p:nvSpPr>
        <p:spPr>
          <a:xfrm>
            <a:off x="1295401" y="9526"/>
            <a:ext cx="85851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96000" spcFirstLastPara="1" rIns="960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3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9" name="Google Shape;59;g3e0af1ff8e2_0_152"/>
          <p:cNvSpPr txBox="1"/>
          <p:nvPr>
            <p:ph idx="12" type="sldNum"/>
          </p:nvPr>
        </p:nvSpPr>
        <p:spPr>
          <a:xfrm>
            <a:off x="10958003" y="6540878"/>
            <a:ext cx="1233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g3e0af1ff8e2_0_152"/>
          <p:cNvSpPr txBox="1"/>
          <p:nvPr>
            <p:ph idx="2" type="sldNum"/>
          </p:nvPr>
        </p:nvSpPr>
        <p:spPr>
          <a:xfrm>
            <a:off x="4" y="6540871"/>
            <a:ext cx="82080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Smartphone RGBD-SLAM · 2nd Milestone Presentation · Lewis, Karataş, Vadrevu</a:t>
            </a:r>
            <a:endParaRPr/>
          </a:p>
        </p:txBody>
      </p:sp>
      <p:sp>
        <p:nvSpPr>
          <p:cNvPr id="61" name="Google Shape;61;g3e0af1ff8e2_0_152"/>
          <p:cNvSpPr txBox="1"/>
          <p:nvPr>
            <p:ph idx="1" type="body"/>
          </p:nvPr>
        </p:nvSpPr>
        <p:spPr>
          <a:xfrm>
            <a:off x="330203" y="949452"/>
            <a:ext cx="11493600" cy="50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0050" lvl="1" marL="914400" marR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1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381699" y="381600"/>
            <a:ext cx="1143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381700" y="1242000"/>
            <a:ext cx="11437200" cy="52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3600"/>
              <a:buFont typeface="Noto Sans Symbols"/>
              <a:buChar char="▪"/>
              <a:defRPr b="0" i="0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406400" lvl="2" marL="1371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0"/>
          <p:cNvSpPr txBox="1"/>
          <p:nvPr/>
        </p:nvSpPr>
        <p:spPr>
          <a:xfrm>
            <a:off x="11226800" y="6477000"/>
            <a:ext cx="914400" cy="31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title"/>
          </p:nvPr>
        </p:nvSpPr>
        <p:spPr>
          <a:xfrm>
            <a:off x="267675" y="591950"/>
            <a:ext cx="114024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10"/>
              <a:buNone/>
            </a:pPr>
            <a:r>
              <a:rPr lang="en-US" sz="3600"/>
              <a:t>Navigation Route Planner</a:t>
            </a:r>
            <a:br>
              <a:rPr lang="en-US" sz="3600"/>
            </a:br>
            <a:r>
              <a:rPr lang="en-US" sz="2000"/>
              <a:t>Walking &amp; Wheelchair Path Planning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7778"/>
              <a:buFont typeface="Arial"/>
              <a:buNone/>
            </a:pPr>
            <a:r>
              <a:rPr lang="en-US" sz="2000"/>
              <a:t>using Abraham et al. [2013]</a:t>
            </a:r>
            <a:endParaRPr sz="3600"/>
          </a:p>
        </p:txBody>
      </p:sp>
      <p:sp>
        <p:nvSpPr>
          <p:cNvPr id="68" name="Google Shape;68;p1"/>
          <p:cNvSpPr txBox="1"/>
          <p:nvPr>
            <p:ph idx="1" type="body"/>
          </p:nvPr>
        </p:nvSpPr>
        <p:spPr>
          <a:xfrm>
            <a:off x="677325" y="2531088"/>
            <a:ext cx="10583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56"/>
              <a:buNone/>
            </a:pPr>
            <a:br>
              <a:rPr lang="en-US" sz="1921">
                <a:solidFill>
                  <a:srgbClr val="434343"/>
                </a:solidFill>
              </a:rPr>
            </a:br>
            <a:r>
              <a:rPr lang="en-US" sz="1921">
                <a:solidFill>
                  <a:srgbClr val="434343"/>
                </a:solidFill>
              </a:rPr>
              <a:t>Abhishek Kripal &amp; Chra Jawhar</a:t>
            </a:r>
            <a:endParaRPr sz="1921">
              <a:solidFill>
                <a:srgbClr val="434343"/>
              </a:solidFill>
            </a:endParaRPr>
          </a:p>
        </p:txBody>
      </p:sp>
      <p:pic>
        <p:nvPicPr>
          <p:cNvPr id="69" name="Google Shape;69;p1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73" y="5569704"/>
            <a:ext cx="1307100" cy="10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 txBox="1"/>
          <p:nvPr>
            <p:ph idx="1" type="body"/>
          </p:nvPr>
        </p:nvSpPr>
        <p:spPr>
          <a:xfrm>
            <a:off x="2316825" y="3554575"/>
            <a:ext cx="73041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56"/>
              <a:buNone/>
            </a:pPr>
            <a:r>
              <a:rPr lang="en-US" sz="1921">
                <a:solidFill>
                  <a:srgbClr val="434343"/>
                </a:solidFill>
              </a:rPr>
              <a:t>Institute of Geodesy and Geoinformation</a:t>
            </a:r>
            <a:endParaRPr sz="1921">
              <a:solidFill>
                <a:srgbClr val="434343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56"/>
              <a:buNone/>
            </a:pPr>
            <a:r>
              <a:rPr lang="en-US" sz="1921">
                <a:solidFill>
                  <a:srgbClr val="434343"/>
                </a:solidFill>
              </a:rPr>
              <a:t>University of Bonn</a:t>
            </a:r>
            <a:endParaRPr sz="1921">
              <a:solidFill>
                <a:srgbClr val="434343"/>
              </a:solidFill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4824225" y="6250700"/>
            <a:ext cx="228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200"/>
              <a:buFont typeface="Calibri"/>
              <a:buNone/>
            </a:pPr>
            <a:r>
              <a:rPr b="1" lang="en-US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MSc GSD · LBS Exercise</a:t>
            </a:r>
            <a:endParaRPr b="1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2" name="Google Shape;72;p1"/>
          <p:cNvSpPr txBox="1"/>
          <p:nvPr>
            <p:ph idx="1" type="body"/>
          </p:nvPr>
        </p:nvSpPr>
        <p:spPr>
          <a:xfrm>
            <a:off x="804450" y="5255402"/>
            <a:ext cx="105831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56"/>
              <a:buNone/>
            </a:pPr>
            <a:r>
              <a:rPr lang="en-US" sz="1921">
                <a:solidFill>
                  <a:srgbClr val="434343"/>
                </a:solidFill>
              </a:rPr>
              <a:t>Under the Guidance of: Prof. Dr. Jan-Henrik Haunert</a:t>
            </a:r>
            <a:br>
              <a:rPr lang="en-US" sz="1921">
                <a:solidFill>
                  <a:srgbClr val="434343"/>
                </a:solidFill>
              </a:rPr>
            </a:br>
            <a:r>
              <a:rPr lang="en-US" sz="1921">
                <a:solidFill>
                  <a:srgbClr val="434343"/>
                </a:solidFill>
              </a:rPr>
              <a:t>Supervisor: </a:t>
            </a:r>
            <a:r>
              <a:rPr lang="en-US" sz="1921">
                <a:solidFill>
                  <a:srgbClr val="434343"/>
                </a:solidFill>
              </a:rPr>
              <a:t>M</a:t>
            </a:r>
            <a:r>
              <a:rPr lang="en-US" sz="1921">
                <a:solidFill>
                  <a:srgbClr val="434343"/>
                </a:solidFill>
              </a:rPr>
              <a:t>.Sc. Dorian Baltzer</a:t>
            </a:r>
            <a:endParaRPr sz="1921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76320" y="1622822"/>
            <a:ext cx="5486400" cy="224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40912" y="1805702"/>
            <a:ext cx="621900" cy="621900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640912" y="1805702"/>
            <a:ext cx="621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🔜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372432" y="1805702"/>
            <a:ext cx="4434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Shortest ≠ Best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40912" y="2336054"/>
            <a:ext cx="5166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The mathematically shortest path may be congested, under construction, or simply disliked by the user. People have personal preferences algorithms can't know in advance.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237040" y="1622822"/>
            <a:ext cx="5486400" cy="224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6401632" y="1805702"/>
            <a:ext cx="621900" cy="621900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401632" y="1805702"/>
            <a:ext cx="621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♿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7133152" y="1805702"/>
            <a:ext cx="4434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Accessibility Gaps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401632" y="2336054"/>
            <a:ext cx="5166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Standard routing ignores steps, steep gradients, and broken kerbs. Wheelchair users need a completely different cost function</a:t>
            </a:r>
            <a:r>
              <a:rPr lang="en-US" sz="1600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 and alternative options when one accessible route fails</a:t>
            </a: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476320" y="4091702"/>
            <a:ext cx="5486400" cy="224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40912" y="4274582"/>
            <a:ext cx="621900" cy="6219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640912" y="4274582"/>
            <a:ext cx="621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1372432" y="4274582"/>
            <a:ext cx="4434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User Autonomy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640912" y="4804934"/>
            <a:ext cx="5166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Presenting 2–3 meaningfully different routes lets users choose. One route for speed, another that avoids a busy junction, a third that stays on quieter streets.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6237040" y="4091702"/>
            <a:ext cx="5486400" cy="224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401632" y="4274582"/>
            <a:ext cx="621900" cy="621900"/>
          </a:xfrm>
          <a:prstGeom prst="ellipse">
            <a:avLst/>
          </a:prstGeom>
          <a:solidFill>
            <a:srgbClr val="02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6401632" y="4274582"/>
            <a:ext cx="621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133152" y="4274582"/>
            <a:ext cx="4434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Real-World Navigation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401632" y="4804934"/>
            <a:ext cx="5166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Commercial systems (Google Maps, </a:t>
            </a:r>
            <a:r>
              <a:rPr lang="en-US" sz="1600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Here Maps</a:t>
            </a: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) already offer alternatives via proprietary algorithms. This project implements a rigorous, peer-reviewed academic approach with formal quality guarantees.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81595" y="1074260"/>
            <a:ext cx="1115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Why do we need alternative routes?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4fc6c2d3f_0_85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04" name="Google Shape;104;g3f4fc6c2d3f_0_85"/>
          <p:cNvSpPr/>
          <p:nvPr/>
        </p:nvSpPr>
        <p:spPr>
          <a:xfrm>
            <a:off x="369900" y="2190725"/>
            <a:ext cx="3566100" cy="356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4fc6c2d3f_0_85"/>
          <p:cNvSpPr/>
          <p:nvPr/>
        </p:nvSpPr>
        <p:spPr>
          <a:xfrm>
            <a:off x="271400" y="1263575"/>
            <a:ext cx="1181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Find paths that are substantially different from the shortest path, have small stretch, and are locally optimal.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6" name="Google Shape;106;g3f4fc6c2d3f_0_85"/>
          <p:cNvSpPr/>
          <p:nvPr/>
        </p:nvSpPr>
        <p:spPr>
          <a:xfrm>
            <a:off x="4377225" y="2190725"/>
            <a:ext cx="3566100" cy="356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4fc6c2d3f_0_85"/>
          <p:cNvSpPr/>
          <p:nvPr/>
        </p:nvSpPr>
        <p:spPr>
          <a:xfrm>
            <a:off x="8384550" y="2190725"/>
            <a:ext cx="3566100" cy="356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4fc6c2d3f_0_85"/>
          <p:cNvSpPr/>
          <p:nvPr/>
        </p:nvSpPr>
        <p:spPr>
          <a:xfrm>
            <a:off x="1718550" y="2341521"/>
            <a:ext cx="868800" cy="868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4fc6c2d3f_0_85"/>
          <p:cNvSpPr/>
          <p:nvPr/>
        </p:nvSpPr>
        <p:spPr>
          <a:xfrm>
            <a:off x="1718550" y="2341521"/>
            <a:ext cx="868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1B33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4fc6c2d3f_0_85"/>
          <p:cNvSpPr/>
          <p:nvPr/>
        </p:nvSpPr>
        <p:spPr>
          <a:xfrm>
            <a:off x="507005" y="3700272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 Similar</a:t>
            </a:r>
            <a:endParaRPr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g3f4fc6c2d3f_0_85"/>
          <p:cNvSpPr/>
          <p:nvPr/>
        </p:nvSpPr>
        <p:spPr>
          <a:xfrm>
            <a:off x="507000" y="4157475"/>
            <a:ext cx="32919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5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k-shortest path algorithms return thousands of paths — nearly all are trivial detours that share 95%+ of their edges with the optimal</a:t>
            </a:r>
            <a:r>
              <a:rPr i="0" lang="en-US" sz="12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i="0" sz="1200" u="none" cap="none" strike="noStrike"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g3f4fc6c2d3f_0_85"/>
          <p:cNvSpPr/>
          <p:nvPr/>
        </p:nvSpPr>
        <p:spPr>
          <a:xfrm>
            <a:off x="5525105" y="2341521"/>
            <a:ext cx="868800" cy="868800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4fc6c2d3f_0_85"/>
          <p:cNvSpPr/>
          <p:nvPr/>
        </p:nvSpPr>
        <p:spPr>
          <a:xfrm>
            <a:off x="5525105" y="2341521"/>
            <a:ext cx="868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1B33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4fc6c2d3f_0_85"/>
          <p:cNvSpPr/>
          <p:nvPr/>
        </p:nvSpPr>
        <p:spPr>
          <a:xfrm>
            <a:off x="4632950" y="3700275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Unreasonable Detours</a:t>
            </a:r>
            <a:endParaRPr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5" name="Google Shape;115;g3f4fc6c2d3f_0_85"/>
          <p:cNvSpPr/>
          <p:nvPr/>
        </p:nvSpPr>
        <p:spPr>
          <a:xfrm>
            <a:off x="4552450" y="4157475"/>
            <a:ext cx="3222600" cy="14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5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A path can be 'different' while still containing obvious local wrong-turns. Users reject routes with unnecessary backtracking</a:t>
            </a:r>
            <a:r>
              <a:rPr i="0" lang="en-US" sz="12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i="0" sz="1200" u="none" cap="none" strike="noStrike"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g3f4fc6c2d3f_0_85"/>
          <p:cNvSpPr/>
          <p:nvPr/>
        </p:nvSpPr>
        <p:spPr>
          <a:xfrm>
            <a:off x="9662160" y="2341521"/>
            <a:ext cx="868800" cy="868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4fc6c2d3f_0_85"/>
          <p:cNvSpPr/>
          <p:nvPr/>
        </p:nvSpPr>
        <p:spPr>
          <a:xfrm>
            <a:off x="9662160" y="2341521"/>
            <a:ext cx="868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1B3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4fc6c2d3f_0_85"/>
          <p:cNvSpPr/>
          <p:nvPr/>
        </p:nvSpPr>
        <p:spPr>
          <a:xfrm>
            <a:off x="8450590" y="3700272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Our Goal</a:t>
            </a:r>
            <a:endParaRPr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g3f4fc6c2d3f_0_85"/>
          <p:cNvSpPr/>
          <p:nvPr/>
        </p:nvSpPr>
        <p:spPr>
          <a:xfrm>
            <a:off x="8473450" y="4157475"/>
            <a:ext cx="3344700" cy="14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5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Routes that diverge meaningfully, stay within a sensible length budget, and feel natural to drive</a:t>
            </a:r>
            <a:r>
              <a:rPr lang="en-US" sz="1600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 with formal mathematical guarantees.</a:t>
            </a:r>
            <a:endParaRPr i="0" sz="1600" u="none" cap="none" strike="noStrike"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4fc6c2d3f_0_145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Goals &amp; Overview</a:t>
            </a:r>
            <a:endParaRPr/>
          </a:p>
        </p:txBody>
      </p:sp>
      <p:sp>
        <p:nvSpPr>
          <p:cNvPr id="125" name="Google Shape;125;g3f4fc6c2d3f_0_145"/>
          <p:cNvSpPr/>
          <p:nvPr/>
        </p:nvSpPr>
        <p:spPr>
          <a:xfrm>
            <a:off x="486120" y="1430332"/>
            <a:ext cx="4755000" cy="201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" name="Google Shape;126;g3f4fc6c2d3f_0_145"/>
          <p:cNvSpPr/>
          <p:nvPr/>
        </p:nvSpPr>
        <p:spPr>
          <a:xfrm>
            <a:off x="486120" y="1430332"/>
            <a:ext cx="658500" cy="384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Google Shape;127;g3f4fc6c2d3f_0_145"/>
          <p:cNvSpPr/>
          <p:nvPr/>
        </p:nvSpPr>
        <p:spPr>
          <a:xfrm>
            <a:off x="486120" y="1430332"/>
            <a:ext cx="65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" name="Google Shape;128;g3f4fc6c2d3f_0_145"/>
          <p:cNvSpPr/>
          <p:nvPr/>
        </p:nvSpPr>
        <p:spPr>
          <a:xfrm>
            <a:off x="1235928" y="1494340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Graph setup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g3f4fc6c2d3f_0_145"/>
          <p:cNvSpPr/>
          <p:nvPr/>
        </p:nvSpPr>
        <p:spPr>
          <a:xfrm>
            <a:off x="650712" y="1933252"/>
            <a:ext cx="44349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Building &amp; caching a wheelchair accessible street graph for Bonn</a:t>
            </a:r>
            <a:endParaRPr sz="1600"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Google Shape;130;g3f4fc6c2d3f_0_145"/>
          <p:cNvSpPr/>
          <p:nvPr/>
        </p:nvSpPr>
        <p:spPr>
          <a:xfrm>
            <a:off x="5515320" y="1430332"/>
            <a:ext cx="4755000" cy="201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g3f4fc6c2d3f_0_145"/>
          <p:cNvSpPr/>
          <p:nvPr/>
        </p:nvSpPr>
        <p:spPr>
          <a:xfrm>
            <a:off x="5515320" y="1430332"/>
            <a:ext cx="658500" cy="384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" name="Google Shape;132;g3f4fc6c2d3f_0_145"/>
          <p:cNvSpPr/>
          <p:nvPr/>
        </p:nvSpPr>
        <p:spPr>
          <a:xfrm>
            <a:off x="5515320" y="1430332"/>
            <a:ext cx="65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" name="Google Shape;133;g3f4fc6c2d3f_0_145"/>
          <p:cNvSpPr/>
          <p:nvPr/>
        </p:nvSpPr>
        <p:spPr>
          <a:xfrm>
            <a:off x="6265128" y="1494340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Shortest/ </a:t>
            </a:r>
            <a:r>
              <a:rPr b="1" i="0" lang="en-US" sz="16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Alternative paths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Google Shape;134;g3f4fc6c2d3f_0_145"/>
          <p:cNvSpPr/>
          <p:nvPr/>
        </p:nvSpPr>
        <p:spPr>
          <a:xfrm>
            <a:off x="5679912" y="1933252"/>
            <a:ext cx="44349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Fast, correct Dijkstra for both walking and wheelchair on OSM road graphs.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t/>
            </a:r>
            <a:endParaRPr sz="1600"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Up to 2 admissible alternatives per query using a double-Dijkstra via-node search.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Google Shape;135;g3f4fc6c2d3f_0_145"/>
          <p:cNvSpPr/>
          <p:nvPr/>
        </p:nvSpPr>
        <p:spPr>
          <a:xfrm>
            <a:off x="486120" y="3716332"/>
            <a:ext cx="4755000" cy="201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g3f4fc6c2d3f_0_145"/>
          <p:cNvSpPr/>
          <p:nvPr/>
        </p:nvSpPr>
        <p:spPr>
          <a:xfrm>
            <a:off x="486120" y="3716332"/>
            <a:ext cx="658500" cy="384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g3f4fc6c2d3f_0_145"/>
          <p:cNvSpPr/>
          <p:nvPr/>
        </p:nvSpPr>
        <p:spPr>
          <a:xfrm>
            <a:off x="486120" y="3716332"/>
            <a:ext cx="65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g3f4fc6c2d3f_0_145"/>
          <p:cNvSpPr/>
          <p:nvPr/>
        </p:nvSpPr>
        <p:spPr>
          <a:xfrm>
            <a:off x="1235928" y="3780340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Quality guarantees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" name="Google Shape;139;g3f4fc6c2d3f_0_145"/>
          <p:cNvSpPr/>
          <p:nvPr/>
        </p:nvSpPr>
        <p:spPr>
          <a:xfrm>
            <a:off x="650712" y="4219252"/>
            <a:ext cx="44349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Three formal constraints ensure alternatives are different, reasonable, and not too long.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" name="Google Shape;140;g3f4fc6c2d3f_0_145"/>
          <p:cNvSpPr/>
          <p:nvPr/>
        </p:nvSpPr>
        <p:spPr>
          <a:xfrm>
            <a:off x="5515320" y="3716332"/>
            <a:ext cx="4755000" cy="201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g3f4fc6c2d3f_0_145"/>
          <p:cNvSpPr/>
          <p:nvPr/>
        </p:nvSpPr>
        <p:spPr>
          <a:xfrm>
            <a:off x="5515320" y="3716332"/>
            <a:ext cx="658500" cy="384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g3f4fc6c2d3f_0_145"/>
          <p:cNvSpPr/>
          <p:nvPr/>
        </p:nvSpPr>
        <p:spPr>
          <a:xfrm>
            <a:off x="5515320" y="3716332"/>
            <a:ext cx="65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3" name="Google Shape;143;g3f4fc6c2d3f_0_145"/>
          <p:cNvSpPr/>
          <p:nvPr/>
        </p:nvSpPr>
        <p:spPr>
          <a:xfrm>
            <a:off x="6265128" y="3780340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Performance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4" name="Google Shape;144;g3f4fc6c2d3f_0_145"/>
          <p:cNvSpPr/>
          <p:nvPr/>
        </p:nvSpPr>
        <p:spPr>
          <a:xfrm>
            <a:off x="5679912" y="4219252"/>
            <a:ext cx="44349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Cutoff-bounded search + optional fast_mode for real-time UX with ~</a:t>
            </a:r>
            <a:r>
              <a:rPr lang="en-US" sz="1600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i="0" lang="en-US" sz="1600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× speedup.</a:t>
            </a:r>
            <a:endParaRPr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g3f4fc6c2d3f_0_145"/>
          <p:cNvSpPr/>
          <p:nvPr/>
        </p:nvSpPr>
        <p:spPr>
          <a:xfrm>
            <a:off x="10544525" y="1430350"/>
            <a:ext cx="1582200" cy="48627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g3f4fc6c2d3f_0_145"/>
          <p:cNvSpPr/>
          <p:nvPr/>
        </p:nvSpPr>
        <p:spPr>
          <a:xfrm>
            <a:off x="10544518" y="1430332"/>
            <a:ext cx="146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Stack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g3f4fc6c2d3f_0_145"/>
          <p:cNvSpPr/>
          <p:nvPr/>
        </p:nvSpPr>
        <p:spPr>
          <a:xfrm>
            <a:off x="10608574" y="1832700"/>
            <a:ext cx="1463100" cy="7497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g3f4fc6c2d3f_0_145"/>
          <p:cNvSpPr/>
          <p:nvPr/>
        </p:nvSpPr>
        <p:spPr>
          <a:xfrm>
            <a:off x="10663525" y="1864700"/>
            <a:ext cx="1463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OpenStreetMap data</a:t>
            </a:r>
            <a:endParaRPr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" name="Google Shape;149;g3f4fc6c2d3f_0_145"/>
          <p:cNvSpPr/>
          <p:nvPr/>
        </p:nvSpPr>
        <p:spPr>
          <a:xfrm>
            <a:off x="10608575" y="2701375"/>
            <a:ext cx="1463100" cy="7497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" name="Google Shape;150;g3f4fc6c2d3f_0_145"/>
          <p:cNvSpPr/>
          <p:nvPr/>
        </p:nvSpPr>
        <p:spPr>
          <a:xfrm>
            <a:off x="10658975" y="2717375"/>
            <a:ext cx="1353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GraphHolder</a:t>
            </a:r>
            <a:endParaRPr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(Preprocess, filtering)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1" name="Google Shape;151;g3f4fc6c2d3f_0_145"/>
          <p:cNvSpPr/>
          <p:nvPr/>
        </p:nvSpPr>
        <p:spPr>
          <a:xfrm>
            <a:off x="10608575" y="3570050"/>
            <a:ext cx="1463100" cy="7497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2" name="Google Shape;152;g3f4fc6c2d3f_0_145"/>
          <p:cNvSpPr/>
          <p:nvPr/>
        </p:nvSpPr>
        <p:spPr>
          <a:xfrm>
            <a:off x="10663525" y="3586073"/>
            <a:ext cx="13533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Util</a:t>
            </a: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(Helper functions)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" name="Google Shape;153;g3f4fc6c2d3f_0_145"/>
          <p:cNvSpPr/>
          <p:nvPr/>
        </p:nvSpPr>
        <p:spPr>
          <a:xfrm>
            <a:off x="10608575" y="4438725"/>
            <a:ext cx="1463100" cy="7497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g3f4fc6c2d3f_0_145"/>
          <p:cNvSpPr/>
          <p:nvPr/>
        </p:nvSpPr>
        <p:spPr>
          <a:xfrm>
            <a:off x="10658975" y="4446750"/>
            <a:ext cx="1353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Navigation</a:t>
            </a:r>
            <a:endParaRPr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(Algorithms)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g3f4fc6c2d3f_0_145"/>
          <p:cNvSpPr/>
          <p:nvPr/>
        </p:nvSpPr>
        <p:spPr>
          <a:xfrm>
            <a:off x="10608575" y="5307425"/>
            <a:ext cx="1463100" cy="7497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6" name="Google Shape;156;g3f4fc6c2d3f_0_145"/>
          <p:cNvSpPr/>
          <p:nvPr/>
        </p:nvSpPr>
        <p:spPr>
          <a:xfrm>
            <a:off x="10658975" y="5307422"/>
            <a:ext cx="13533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Frontend</a:t>
            </a:r>
            <a:endParaRPr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(Map display)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55812c91a_0_112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Build</a:t>
            </a:r>
            <a:endParaRPr/>
          </a:p>
        </p:txBody>
      </p:sp>
      <p:sp>
        <p:nvSpPr>
          <p:cNvPr id="162" name="Google Shape;162;g3f55812c91a_0_112"/>
          <p:cNvSpPr/>
          <p:nvPr/>
        </p:nvSpPr>
        <p:spPr>
          <a:xfrm>
            <a:off x="369900" y="1175300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The GraphHolder class provides a single, ready-to-use street network for Bonn, where every path is physically usable by a wheelchair. It either loads a saved graph from disk, or builds one from scratch the first time it's needed.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g3f55812c91a_0_112"/>
          <p:cNvSpPr/>
          <p:nvPr/>
        </p:nvSpPr>
        <p:spPr>
          <a:xfrm>
            <a:off x="457200" y="2355300"/>
            <a:ext cx="502800" cy="502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g3f55812c91a_0_112"/>
          <p:cNvSpPr/>
          <p:nvPr/>
        </p:nvSpPr>
        <p:spPr>
          <a:xfrm>
            <a:off x="457200" y="232786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⟳</a:t>
            </a:r>
            <a:endParaRPr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5" name="Google Shape;165;g3f55812c91a_0_112"/>
          <p:cNvSpPr/>
          <p:nvPr/>
        </p:nvSpPr>
        <p:spPr>
          <a:xfrm>
            <a:off x="1143000" y="2309580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Singleton cache</a:t>
            </a:r>
            <a:endParaRPr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" name="Google Shape;166;g3f55812c91a_0_112"/>
          <p:cNvSpPr/>
          <p:nvPr/>
        </p:nvSpPr>
        <p:spPr>
          <a:xfrm>
            <a:off x="1143000" y="2647900"/>
            <a:ext cx="4755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>
                <a:solidFill>
                  <a:srgbClr val="5B6B7A"/>
                </a:solidFill>
                <a:latin typeface="Verdana"/>
                <a:ea typeface="Verdana"/>
                <a:cs typeface="Verdana"/>
                <a:sym typeface="Verdana"/>
              </a:rPr>
              <a:t>It </a:t>
            </a:r>
            <a:r>
              <a:rPr i="0" lang="en-US" u="none" cap="none" strike="noStrike">
                <a:solidFill>
                  <a:srgbClr val="5B6B7A"/>
                </a:solidFill>
                <a:latin typeface="Verdana"/>
                <a:ea typeface="Verdana"/>
                <a:cs typeface="Verdana"/>
                <a:sym typeface="Verdana"/>
              </a:rPr>
              <a:t>stores the graph on the class itself, so it's built or loaded only once per run.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g3f55812c91a_0_112"/>
          <p:cNvSpPr/>
          <p:nvPr/>
        </p:nvSpPr>
        <p:spPr>
          <a:xfrm>
            <a:off x="457200" y="3525732"/>
            <a:ext cx="502800" cy="502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8" name="Google Shape;168;g3f55812c91a_0_112"/>
          <p:cNvSpPr/>
          <p:nvPr/>
        </p:nvSpPr>
        <p:spPr>
          <a:xfrm>
            <a:off x="457200" y="34983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⇄</a:t>
            </a:r>
            <a:endParaRPr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g3f55812c91a_0_112"/>
          <p:cNvSpPr/>
          <p:nvPr/>
        </p:nvSpPr>
        <p:spPr>
          <a:xfrm>
            <a:off x="1143000" y="3480012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Load-or-build</a:t>
            </a:r>
            <a:endParaRPr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0" name="Google Shape;170;g3f55812c91a_0_112"/>
          <p:cNvSpPr/>
          <p:nvPr/>
        </p:nvSpPr>
        <p:spPr>
          <a:xfrm>
            <a:off x="1143000" y="3818350"/>
            <a:ext cx="379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i="0" lang="en-US" u="none" cap="none" strike="noStrike">
                <a:solidFill>
                  <a:srgbClr val="5B6B7A"/>
                </a:solidFill>
                <a:latin typeface="Verdana"/>
                <a:ea typeface="Verdana"/>
                <a:cs typeface="Verdana"/>
                <a:sym typeface="Verdana"/>
              </a:rPr>
              <a:t>If Bonn_wheelchair.graphml already exists, it's read directly; </a:t>
            </a:r>
            <a:br>
              <a:rPr lang="en-US">
                <a:solidFill>
                  <a:srgbClr val="5B6B7A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i="0" lang="en-US" u="none" cap="none" strike="noStrike">
                <a:solidFill>
                  <a:srgbClr val="5B6B7A"/>
                </a:solidFill>
                <a:latin typeface="Verdana"/>
                <a:ea typeface="Verdana"/>
                <a:cs typeface="Verdana"/>
                <a:sym typeface="Verdana"/>
              </a:rPr>
              <a:t>otherwise __prepareGraph() creates it.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1" name="Google Shape;171;g3f55812c91a_0_112"/>
          <p:cNvSpPr/>
          <p:nvPr/>
        </p:nvSpPr>
        <p:spPr>
          <a:xfrm>
            <a:off x="457200" y="4906589"/>
            <a:ext cx="502800" cy="502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" name="Google Shape;172;g3f55812c91a_0_112"/>
          <p:cNvSpPr/>
          <p:nvPr/>
        </p:nvSpPr>
        <p:spPr>
          <a:xfrm>
            <a:off x="457200" y="4879157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✓</a:t>
            </a:r>
            <a:endParaRPr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3" name="Google Shape;173;g3f55812c91a_0_112"/>
          <p:cNvSpPr/>
          <p:nvPr/>
        </p:nvSpPr>
        <p:spPr>
          <a:xfrm>
            <a:off x="1143000" y="4860875"/>
            <a:ext cx="3029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Wheelchair-safe by design</a:t>
            </a:r>
            <a:endParaRPr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4" name="Google Shape;174;g3f55812c91a_0_112"/>
          <p:cNvSpPr/>
          <p:nvPr/>
        </p:nvSpPr>
        <p:spPr>
          <a:xfrm>
            <a:off x="1143000" y="5199200"/>
            <a:ext cx="5257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i="0" lang="en-US" u="none" cap="none" strike="noStrike">
                <a:solidFill>
                  <a:srgbClr val="5B6B7A"/>
                </a:solidFill>
                <a:latin typeface="Verdana"/>
                <a:ea typeface="Verdana"/>
                <a:cs typeface="Verdana"/>
                <a:sym typeface="Verdana"/>
              </a:rPr>
              <a:t>Every remaining edge has already passed a highway-type filter and an 8% slope limit.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5" name="Google Shape;175;g3f55812c91a_0_112"/>
          <p:cNvCxnSpPr/>
          <p:nvPr/>
        </p:nvCxnSpPr>
        <p:spPr>
          <a:xfrm>
            <a:off x="6906120" y="5135085"/>
            <a:ext cx="475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g3f55812c91a_0_112"/>
          <p:cNvCxnSpPr/>
          <p:nvPr/>
        </p:nvCxnSpPr>
        <p:spPr>
          <a:xfrm flipH="1" rot="10800000">
            <a:off x="6906120" y="4494885"/>
            <a:ext cx="1554600" cy="640200"/>
          </a:xfrm>
          <a:prstGeom prst="straightConnector1">
            <a:avLst/>
          </a:prstGeom>
          <a:noFill/>
          <a:ln cap="flat" cmpd="sng" w="44450">
            <a:solidFill>
              <a:srgbClr val="2E9E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g3f55812c91a_0_112"/>
          <p:cNvSpPr/>
          <p:nvPr/>
        </p:nvSpPr>
        <p:spPr>
          <a:xfrm>
            <a:off x="6906120" y="4083525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Verdana"/>
                <a:ea typeface="Verdana"/>
                <a:cs typeface="Verdana"/>
                <a:sym typeface="Verdana"/>
              </a:rPr>
              <a:t>≤ 8%  passable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8" name="Google Shape;178;g3f55812c91a_0_112"/>
          <p:cNvCxnSpPr/>
          <p:nvPr/>
        </p:nvCxnSpPr>
        <p:spPr>
          <a:xfrm flipH="1" rot="10800000">
            <a:off x="8917800" y="2757585"/>
            <a:ext cx="1371600" cy="2377500"/>
          </a:xfrm>
          <a:prstGeom prst="straightConnector1">
            <a:avLst/>
          </a:prstGeom>
          <a:noFill/>
          <a:ln cap="flat" cmpd="sng" w="444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g3f55812c91a_0_112"/>
          <p:cNvSpPr/>
          <p:nvPr/>
        </p:nvSpPr>
        <p:spPr>
          <a:xfrm>
            <a:off x="8734920" y="2391885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&gt; 8%  removed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g3f55812c91a_0_112"/>
          <p:cNvSpPr/>
          <p:nvPr/>
        </p:nvSpPr>
        <p:spPr>
          <a:xfrm>
            <a:off x="8337890" y="42928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endParaRPr b="1"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1" name="Google Shape;181;g3f55812c91a_0_112"/>
          <p:cNvSpPr/>
          <p:nvPr/>
        </p:nvSpPr>
        <p:spPr>
          <a:xfrm>
            <a:off x="6906125" y="5349225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8% figure mirrors DIN 18040-3's practical field guidance for wheelchair-negotiable ramps and paths.</a:t>
            </a:r>
            <a:endParaRPr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" name="Google Shape;182;g3f55812c91a_0_112"/>
          <p:cNvSpPr/>
          <p:nvPr/>
        </p:nvSpPr>
        <p:spPr>
          <a:xfrm>
            <a:off x="6844365" y="48608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endParaRPr b="1"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55812c91a_0_1193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Preprocessing Pipeline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f55812c91a_0_1193"/>
          <p:cNvSpPr/>
          <p:nvPr/>
        </p:nvSpPr>
        <p:spPr>
          <a:xfrm>
            <a:off x="369900" y="1175300"/>
            <a:ext cx="111558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Runs once, only when no cached .graphml file is found yet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89" name="Google Shape;189;g3f55812c91a_0_1193"/>
          <p:cNvGrpSpPr/>
          <p:nvPr/>
        </p:nvGrpSpPr>
        <p:grpSpPr>
          <a:xfrm>
            <a:off x="274925" y="1905263"/>
            <a:ext cx="2952726" cy="4290074"/>
            <a:chOff x="0" y="1189989"/>
            <a:chExt cx="2214600" cy="3217636"/>
          </a:xfrm>
        </p:grpSpPr>
        <p:sp>
          <p:nvSpPr>
            <p:cNvPr id="190" name="Google Shape;190;g3f55812c91a_0_1193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-342900" lvl="0" marL="45720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Verdana"/>
                <a:buAutoNum type="arabicPeriod"/>
              </a:pPr>
              <a:r>
                <a:rPr lang="en-US" sz="180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Download</a:t>
              </a:r>
              <a:endParaRPr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1" name="Google Shape;191;g3f55812c91a_0_1193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osmnx library pulls Bonn's walk network from OSM</a:t>
              </a:r>
              <a:endParaRPr sz="1600"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92" name="Google Shape;192;g3f55812c91a_0_1193"/>
          <p:cNvGrpSpPr/>
          <p:nvPr/>
        </p:nvGrpSpPr>
        <p:grpSpPr>
          <a:xfrm>
            <a:off x="2725964" y="1904977"/>
            <a:ext cx="2751931" cy="4290359"/>
            <a:chOff x="1838325" y="1189775"/>
            <a:chExt cx="2064000" cy="3217850"/>
          </a:xfrm>
        </p:grpSpPr>
        <p:sp>
          <p:nvSpPr>
            <p:cNvPr id="193" name="Google Shape;193;g3f55812c91a_0_1193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2. Filter highways</a:t>
              </a:r>
              <a:endParaRPr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4" name="Google Shape;194;g3f55812c91a_0_1193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Remove edges whose tag is in WHEELCHAIR_</a:t>
              </a:r>
              <a:br>
                <a:rPr lang="en-US" sz="1600">
                  <a:latin typeface="Verdana"/>
                  <a:ea typeface="Verdana"/>
                  <a:cs typeface="Verdana"/>
                  <a:sym typeface="Verdana"/>
                </a:rPr>
              </a:b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BLOCKED, </a:t>
              </a:r>
              <a:br>
                <a:rPr lang="en-US" sz="1600">
                  <a:latin typeface="Verdana"/>
                  <a:ea typeface="Verdana"/>
                  <a:cs typeface="Verdana"/>
                  <a:sym typeface="Verdana"/>
                </a:rPr>
              </a:b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or not in WHEELCHAIR_OK</a:t>
              </a:r>
              <a:endParaRPr sz="1600"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95" name="Google Shape;195;g3f55812c91a_0_1193"/>
          <p:cNvGrpSpPr/>
          <p:nvPr/>
        </p:nvGrpSpPr>
        <p:grpSpPr>
          <a:xfrm>
            <a:off x="4963807" y="1904977"/>
            <a:ext cx="2751931" cy="4290359"/>
            <a:chOff x="3516750" y="1189775"/>
            <a:chExt cx="2064000" cy="3217850"/>
          </a:xfrm>
        </p:grpSpPr>
        <p:sp>
          <p:nvSpPr>
            <p:cNvPr id="196" name="Google Shape;196;g3f55812c91a_0_1193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3. Sample elevation</a:t>
              </a:r>
              <a:endParaRPr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7" name="Google Shape;197;g3f55812c91a_0_1193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Reproject node coords into the DEM's CRS and batch-sample elevation per node</a:t>
              </a:r>
              <a:endParaRPr sz="1600"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98" name="Google Shape;198;g3f55812c91a_0_1193"/>
          <p:cNvGrpSpPr/>
          <p:nvPr/>
        </p:nvGrpSpPr>
        <p:grpSpPr>
          <a:xfrm>
            <a:off x="9440338" y="1904978"/>
            <a:ext cx="2586811" cy="4290359"/>
            <a:chOff x="6874025" y="1189775"/>
            <a:chExt cx="2064000" cy="3217850"/>
          </a:xfrm>
        </p:grpSpPr>
        <p:sp>
          <p:nvSpPr>
            <p:cNvPr id="199" name="Google Shape;199;g3f55812c91a_0_1193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5. Save</a:t>
              </a:r>
              <a:endParaRPr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0" name="Google Shape;200;g3f55812c91a_0_1193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Serialize to GraphML sentinel</a:t>
              </a:r>
              <a:endParaRPr sz="1600"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201" name="Google Shape;201;g3f55812c91a_0_1193"/>
          <p:cNvGrpSpPr/>
          <p:nvPr/>
        </p:nvGrpSpPr>
        <p:grpSpPr>
          <a:xfrm>
            <a:off x="7201885" y="1904977"/>
            <a:ext cx="2751931" cy="4290359"/>
            <a:chOff x="5195350" y="1189775"/>
            <a:chExt cx="2064000" cy="3217850"/>
          </a:xfrm>
        </p:grpSpPr>
        <p:sp>
          <p:nvSpPr>
            <p:cNvPr id="202" name="Google Shape;202;g3f55812c91a_0_1193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4. Compute slope</a:t>
              </a:r>
              <a:endParaRPr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3" name="Google Shape;203;g3f55812c91a_0_1193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slope = </a:t>
              </a:r>
              <a:br>
                <a:rPr lang="en-US" sz="1600">
                  <a:latin typeface="Verdana"/>
                  <a:ea typeface="Verdana"/>
                  <a:cs typeface="Verdana"/>
                  <a:sym typeface="Verdana"/>
                </a:rPr>
              </a:b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(elev_v − elev_u) / length for every edge; </a:t>
              </a:r>
              <a:br>
                <a:rPr lang="en-US" sz="1600">
                  <a:latin typeface="Verdana"/>
                  <a:ea typeface="Verdana"/>
                  <a:cs typeface="Verdana"/>
                  <a:sym typeface="Verdana"/>
                </a:rPr>
              </a:br>
              <a:br>
                <a:rPr lang="en-US" sz="1600">
                  <a:latin typeface="Verdana"/>
                  <a:ea typeface="Verdana"/>
                  <a:cs typeface="Verdana"/>
                  <a:sym typeface="Verdana"/>
                </a:rPr>
              </a:br>
              <a:r>
                <a:rPr lang="en-US" sz="1600">
                  <a:latin typeface="Verdana"/>
                  <a:ea typeface="Verdana"/>
                  <a:cs typeface="Verdana"/>
                  <a:sym typeface="Verdana"/>
                </a:rPr>
                <a:t>drop |slope| &gt;8%</a:t>
              </a:r>
              <a:endParaRPr sz="1600"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"/>
          <p:cNvSpPr txBox="1"/>
          <p:nvPr>
            <p:ph type="title"/>
          </p:nvPr>
        </p:nvSpPr>
        <p:spPr>
          <a:xfrm>
            <a:off x="381600" y="381600"/>
            <a:ext cx="114365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Algorithm: Shortest Path</a:t>
            </a:r>
            <a:endParaRPr/>
          </a:p>
        </p:txBody>
      </p:sp>
      <p:sp>
        <p:nvSpPr>
          <p:cNvPr id="209" name="Google Shape;209;p3"/>
          <p:cNvSpPr/>
          <p:nvPr/>
        </p:nvSpPr>
        <p:spPr>
          <a:xfrm>
            <a:off x="369900" y="1175303"/>
            <a:ext cx="11155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_shortest_path()  ·  used by both walking and wheelchair modes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10" name="Google Shape;210;p3"/>
          <p:cNvCxnSpPr/>
          <p:nvPr/>
        </p:nvCxnSpPr>
        <p:spPr>
          <a:xfrm flipH="1" rot="10800000">
            <a:off x="947843" y="2400471"/>
            <a:ext cx="1828800" cy="731400"/>
          </a:xfrm>
          <a:prstGeom prst="straightConnector1">
            <a:avLst/>
          </a:prstGeom>
          <a:noFill/>
          <a:ln cap="flat" cmpd="sng" w="15225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"/>
          <p:cNvSpPr/>
          <p:nvPr/>
        </p:nvSpPr>
        <p:spPr>
          <a:xfrm>
            <a:off x="1706795" y="251922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ourier New"/>
              <a:buNone/>
            </a:pPr>
            <a:r>
              <a:rPr i="0" lang="en-US" u="none" cap="none" strike="noStrike">
                <a:solidFill>
                  <a:srgbClr val="F9C74F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12" name="Google Shape;212;p3"/>
          <p:cNvCxnSpPr/>
          <p:nvPr/>
        </p:nvCxnSpPr>
        <p:spPr>
          <a:xfrm>
            <a:off x="947843" y="3131871"/>
            <a:ext cx="1828800" cy="731400"/>
          </a:xfrm>
          <a:prstGeom prst="straightConnector1">
            <a:avLst/>
          </a:prstGeom>
          <a:noFill/>
          <a:ln cap="flat" cmpd="sng" w="15225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3"/>
          <p:cNvSpPr/>
          <p:nvPr/>
        </p:nvSpPr>
        <p:spPr>
          <a:xfrm>
            <a:off x="1706795" y="324149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ourier New"/>
              <a:buNone/>
            </a:pPr>
            <a:r>
              <a:rPr i="0" lang="en-US" u="none" cap="none" strike="noStrike">
                <a:solidFill>
                  <a:srgbClr val="F9C74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14" name="Google Shape;214;p3"/>
          <p:cNvCxnSpPr/>
          <p:nvPr/>
        </p:nvCxnSpPr>
        <p:spPr>
          <a:xfrm>
            <a:off x="2776643" y="2400351"/>
            <a:ext cx="1828800" cy="0"/>
          </a:xfrm>
          <a:prstGeom prst="straightConnector1">
            <a:avLst/>
          </a:prstGeom>
          <a:noFill/>
          <a:ln cap="flat" cmpd="sng" w="15225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3"/>
          <p:cNvSpPr/>
          <p:nvPr/>
        </p:nvSpPr>
        <p:spPr>
          <a:xfrm>
            <a:off x="3535595" y="215346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ourier New"/>
              <a:buNone/>
            </a:pPr>
            <a:r>
              <a:rPr i="0" lang="en-US" u="none" cap="none" strike="noStrike">
                <a:solidFill>
                  <a:srgbClr val="F9C74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16" name="Google Shape;216;p3"/>
          <p:cNvCxnSpPr/>
          <p:nvPr/>
        </p:nvCxnSpPr>
        <p:spPr>
          <a:xfrm flipH="1" rot="10800000">
            <a:off x="2776643" y="2400291"/>
            <a:ext cx="1828800" cy="1463100"/>
          </a:xfrm>
          <a:prstGeom prst="straightConnector1">
            <a:avLst/>
          </a:prstGeom>
          <a:noFill/>
          <a:ln cap="flat" cmpd="sng" w="15225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3"/>
          <p:cNvSpPr/>
          <p:nvPr/>
        </p:nvSpPr>
        <p:spPr>
          <a:xfrm>
            <a:off x="3535595" y="288498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ourier New"/>
              <a:buNone/>
            </a:pPr>
            <a:r>
              <a:rPr i="0" lang="en-US" u="none" cap="none" strike="noStrike">
                <a:solidFill>
                  <a:srgbClr val="F9C74F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18" name="Google Shape;218;p3"/>
          <p:cNvCxnSpPr/>
          <p:nvPr/>
        </p:nvCxnSpPr>
        <p:spPr>
          <a:xfrm>
            <a:off x="2776643" y="3863391"/>
            <a:ext cx="1828800" cy="0"/>
          </a:xfrm>
          <a:prstGeom prst="straightConnector1">
            <a:avLst/>
          </a:prstGeom>
          <a:noFill/>
          <a:ln cap="flat" cmpd="sng" w="15225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3"/>
          <p:cNvSpPr/>
          <p:nvPr/>
        </p:nvSpPr>
        <p:spPr>
          <a:xfrm>
            <a:off x="3535595" y="361650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ourier New"/>
              <a:buNone/>
            </a:pPr>
            <a:r>
              <a:rPr i="0" lang="en-US" u="none" cap="none" strike="noStrike">
                <a:solidFill>
                  <a:srgbClr val="F9C74F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20" name="Google Shape;220;p3"/>
          <p:cNvCxnSpPr/>
          <p:nvPr/>
        </p:nvCxnSpPr>
        <p:spPr>
          <a:xfrm>
            <a:off x="4605443" y="2400351"/>
            <a:ext cx="1828800" cy="731400"/>
          </a:xfrm>
          <a:prstGeom prst="straightConnector1">
            <a:avLst/>
          </a:prstGeom>
          <a:noFill/>
          <a:ln cap="flat" cmpd="sng" w="15225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3"/>
          <p:cNvSpPr/>
          <p:nvPr/>
        </p:nvSpPr>
        <p:spPr>
          <a:xfrm>
            <a:off x="5364395" y="251922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ourier New"/>
              <a:buNone/>
            </a:pPr>
            <a:r>
              <a:rPr i="0" lang="en-US" u="none" cap="none" strike="noStrike">
                <a:solidFill>
                  <a:srgbClr val="F9C74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22" name="Google Shape;222;p3"/>
          <p:cNvCxnSpPr/>
          <p:nvPr/>
        </p:nvCxnSpPr>
        <p:spPr>
          <a:xfrm flipH="1" rot="10800000">
            <a:off x="4605443" y="3131991"/>
            <a:ext cx="1828800" cy="731400"/>
          </a:xfrm>
          <a:prstGeom prst="straightConnector1">
            <a:avLst/>
          </a:prstGeom>
          <a:noFill/>
          <a:ln cap="flat" cmpd="sng" w="15225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3"/>
          <p:cNvSpPr/>
          <p:nvPr/>
        </p:nvSpPr>
        <p:spPr>
          <a:xfrm>
            <a:off x="5364395" y="325074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ourier New"/>
              <a:buNone/>
            </a:pPr>
            <a:r>
              <a:rPr i="0" lang="en-US" u="none" cap="none" strike="noStrike">
                <a:solidFill>
                  <a:srgbClr val="F9C74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24" name="Google Shape;224;p3"/>
          <p:cNvCxnSpPr/>
          <p:nvPr/>
        </p:nvCxnSpPr>
        <p:spPr>
          <a:xfrm>
            <a:off x="947843" y="3131871"/>
            <a:ext cx="1828800" cy="731400"/>
          </a:xfrm>
          <a:prstGeom prst="straightConnector1">
            <a:avLst/>
          </a:prstGeom>
          <a:noFill/>
          <a:ln cap="flat" cmpd="sng" w="317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3"/>
          <p:cNvCxnSpPr/>
          <p:nvPr/>
        </p:nvCxnSpPr>
        <p:spPr>
          <a:xfrm flipH="1" rot="10800000">
            <a:off x="2776643" y="2400291"/>
            <a:ext cx="1828800" cy="1463100"/>
          </a:xfrm>
          <a:prstGeom prst="straightConnector1">
            <a:avLst/>
          </a:prstGeom>
          <a:noFill/>
          <a:ln cap="flat" cmpd="sng" w="317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3"/>
          <p:cNvCxnSpPr/>
          <p:nvPr/>
        </p:nvCxnSpPr>
        <p:spPr>
          <a:xfrm>
            <a:off x="4605443" y="2400351"/>
            <a:ext cx="1828800" cy="731400"/>
          </a:xfrm>
          <a:prstGeom prst="straightConnector1">
            <a:avLst/>
          </a:prstGeom>
          <a:noFill/>
          <a:ln cap="flat" cmpd="sng" w="317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3"/>
          <p:cNvSpPr/>
          <p:nvPr/>
        </p:nvSpPr>
        <p:spPr>
          <a:xfrm>
            <a:off x="746675" y="2930703"/>
            <a:ext cx="402300" cy="4023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"/>
          <p:cNvSpPr/>
          <p:nvPr/>
        </p:nvSpPr>
        <p:spPr>
          <a:xfrm>
            <a:off x="746675" y="2930703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746675" y="3131871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900"/>
              <a:buFont typeface="Courier New"/>
              <a:buNone/>
            </a:pPr>
            <a:r>
              <a:rPr i="0" lang="en-US" sz="12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2575475" y="2199183"/>
            <a:ext cx="402300" cy="402300"/>
          </a:xfrm>
          <a:prstGeom prst="ellipse">
            <a:avLst/>
          </a:prstGeom>
          <a:solidFill>
            <a:srgbClr val="0A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"/>
          <p:cNvSpPr/>
          <p:nvPr/>
        </p:nvSpPr>
        <p:spPr>
          <a:xfrm>
            <a:off x="2575475" y="2199183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2575475" y="2400351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2575475" y="3662223"/>
            <a:ext cx="402300" cy="402300"/>
          </a:xfrm>
          <a:prstGeom prst="ellipse">
            <a:avLst/>
          </a:prstGeom>
          <a:solidFill>
            <a:srgbClr val="0A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2575475" y="3662223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2575475" y="3863391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4404275" y="2199183"/>
            <a:ext cx="402300" cy="402300"/>
          </a:xfrm>
          <a:prstGeom prst="ellipse">
            <a:avLst/>
          </a:prstGeom>
          <a:solidFill>
            <a:srgbClr val="0A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"/>
          <p:cNvSpPr/>
          <p:nvPr/>
        </p:nvSpPr>
        <p:spPr>
          <a:xfrm>
            <a:off x="4404275" y="2199183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4404275" y="2400351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4404275" y="3662223"/>
            <a:ext cx="402300" cy="402300"/>
          </a:xfrm>
          <a:prstGeom prst="ellipse">
            <a:avLst/>
          </a:prstGeom>
          <a:solidFill>
            <a:srgbClr val="0A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"/>
          <p:cNvSpPr/>
          <p:nvPr/>
        </p:nvSpPr>
        <p:spPr>
          <a:xfrm>
            <a:off x="4404275" y="3662223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4404275" y="3863391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2" name="Google Shape;242;p3"/>
          <p:cNvSpPr/>
          <p:nvPr/>
        </p:nvSpPr>
        <p:spPr>
          <a:xfrm>
            <a:off x="6233075" y="2930703"/>
            <a:ext cx="402300" cy="4023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"/>
          <p:cNvSpPr/>
          <p:nvPr/>
        </p:nvSpPr>
        <p:spPr>
          <a:xfrm>
            <a:off x="6233075" y="2930703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6233075" y="3131871"/>
            <a:ext cx="40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609515" y="4412031"/>
            <a:ext cx="5943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i="1" lang="en-US" sz="1200" u="none" cap="none" strike="noStrike">
                <a:solidFill>
                  <a:srgbClr val="02C39A"/>
                </a:solidFill>
                <a:latin typeface="Verdana"/>
                <a:ea typeface="Verdana"/>
                <a:cs typeface="Verdana"/>
                <a:sym typeface="Verdana"/>
              </a:rPr>
              <a:t>Shortest path S→B→C→T = 5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" name="Google Shape;246;p3"/>
          <p:cNvSpPr/>
          <p:nvPr/>
        </p:nvSpPr>
        <p:spPr>
          <a:xfrm>
            <a:off x="6949440" y="1426464"/>
            <a:ext cx="402300" cy="4023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"/>
          <p:cNvSpPr/>
          <p:nvPr/>
        </p:nvSpPr>
        <p:spPr>
          <a:xfrm>
            <a:off x="6949440" y="1426464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" name="Google Shape;248;p3"/>
          <p:cNvSpPr/>
          <p:nvPr/>
        </p:nvSpPr>
        <p:spPr>
          <a:xfrm>
            <a:off x="7452360" y="1408176"/>
            <a:ext cx="448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Verdana"/>
                <a:ea typeface="Verdana"/>
                <a:cs typeface="Verdana"/>
                <a:sym typeface="Verdana"/>
              </a:rPr>
              <a:t>Snap coordinates</a:t>
            </a:r>
            <a:endParaRPr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9" name="Google Shape;249;p3"/>
          <p:cNvSpPr/>
          <p:nvPr/>
        </p:nvSpPr>
        <p:spPr>
          <a:xfrm>
            <a:off x="7452360" y="1719072"/>
            <a:ext cx="4480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00"/>
              <a:buFont typeface="Calibri"/>
              <a:buNone/>
            </a:pPr>
            <a:r>
              <a:rPr lang="en-US" sz="17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i="0" lang="en-US" sz="1700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ind source, target OSM node IDs</a:t>
            </a:r>
            <a:endParaRPr i="0" sz="170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p3"/>
          <p:cNvSpPr/>
          <p:nvPr/>
        </p:nvSpPr>
        <p:spPr>
          <a:xfrm>
            <a:off x="6949440" y="2688336"/>
            <a:ext cx="402300" cy="4023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"/>
          <p:cNvSpPr/>
          <p:nvPr/>
        </p:nvSpPr>
        <p:spPr>
          <a:xfrm>
            <a:off x="6949440" y="2688336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2" name="Google Shape;252;p3"/>
          <p:cNvSpPr/>
          <p:nvPr/>
        </p:nvSpPr>
        <p:spPr>
          <a:xfrm>
            <a:off x="7452360" y="2670048"/>
            <a:ext cx="448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Verdana"/>
                <a:ea typeface="Verdana"/>
                <a:cs typeface="Verdana"/>
                <a:sym typeface="Verdana"/>
              </a:rPr>
              <a:t>Validate nodes</a:t>
            </a:r>
            <a:endParaRPr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3" name="Google Shape;253;p3"/>
          <p:cNvSpPr/>
          <p:nvPr/>
        </p:nvSpPr>
        <p:spPr>
          <a:xfrm>
            <a:off x="7452360" y="2980944"/>
            <a:ext cx="4480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00"/>
              <a:buFont typeface="Calibri"/>
              <a:buNone/>
            </a:pPr>
            <a:r>
              <a:rPr i="0" lang="en-US" sz="1600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Check: source ≠ target · both in graph · confirm connectivity</a:t>
            </a:r>
            <a:endParaRPr i="0" sz="160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4" name="Google Shape;254;p3"/>
          <p:cNvSpPr/>
          <p:nvPr/>
        </p:nvSpPr>
        <p:spPr>
          <a:xfrm>
            <a:off x="6949440" y="3950208"/>
            <a:ext cx="402300" cy="4023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"/>
          <p:cNvSpPr/>
          <p:nvPr/>
        </p:nvSpPr>
        <p:spPr>
          <a:xfrm>
            <a:off x="6949440" y="3950208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6" name="Google Shape;256;p3"/>
          <p:cNvSpPr/>
          <p:nvPr/>
        </p:nvSpPr>
        <p:spPr>
          <a:xfrm>
            <a:off x="7452360" y="3931920"/>
            <a:ext cx="448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Verdana"/>
                <a:ea typeface="Verdana"/>
                <a:cs typeface="Verdana"/>
                <a:sym typeface="Verdana"/>
              </a:rPr>
              <a:t>Run Dijkstra</a:t>
            </a:r>
            <a:endParaRPr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7" name="Google Shape;257;p3"/>
          <p:cNvSpPr/>
          <p:nvPr/>
        </p:nvSpPr>
        <p:spPr>
          <a:xfrm>
            <a:off x="7452360" y="4242816"/>
            <a:ext cx="4480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00"/>
              <a:buFont typeface="Calibri"/>
              <a:buNone/>
            </a:pPr>
            <a:r>
              <a:rPr i="0" lang="en-US" sz="1600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Returns optimal node list</a:t>
            </a:r>
            <a:endParaRPr i="0" sz="160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8" name="Google Shape;258;p3"/>
          <p:cNvSpPr/>
          <p:nvPr/>
        </p:nvSpPr>
        <p:spPr>
          <a:xfrm>
            <a:off x="6949440" y="5212080"/>
            <a:ext cx="402300" cy="4023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"/>
          <p:cNvSpPr/>
          <p:nvPr/>
        </p:nvSpPr>
        <p:spPr>
          <a:xfrm>
            <a:off x="6949440" y="5212080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0" name="Google Shape;260;p3"/>
          <p:cNvSpPr/>
          <p:nvPr/>
        </p:nvSpPr>
        <p:spPr>
          <a:xfrm>
            <a:off x="7452360" y="5193792"/>
            <a:ext cx="448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Verdana"/>
                <a:ea typeface="Verdana"/>
                <a:cs typeface="Verdana"/>
                <a:sym typeface="Verdana"/>
              </a:rPr>
              <a:t>Return coordinates</a:t>
            </a:r>
            <a:endParaRPr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1" name="Google Shape;261;p3"/>
          <p:cNvSpPr/>
          <p:nvPr/>
        </p:nvSpPr>
        <p:spPr>
          <a:xfrm>
            <a:off x="7452360" y="5504688"/>
            <a:ext cx="4480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From paths -&gt; return [{lat, long}, …]</a:t>
            </a:r>
            <a:endParaRPr i="0" sz="160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2" name="Google Shape;262;p3"/>
          <p:cNvSpPr/>
          <p:nvPr/>
        </p:nvSpPr>
        <p:spPr>
          <a:xfrm>
            <a:off x="518095" y="6272803"/>
            <a:ext cx="11155800" cy="5028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"/>
          <p:cNvSpPr/>
          <p:nvPr/>
        </p:nvSpPr>
        <p:spPr>
          <a:xfrm>
            <a:off x="609535" y="6300235"/>
            <a:ext cx="1097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100"/>
              <a:buFont typeface="Courier New"/>
              <a:buNone/>
            </a:pPr>
            <a:r>
              <a:rPr i="0" lang="en-US" sz="1200" u="none" cap="none" strike="noStrike">
                <a:solidFill>
                  <a:srgbClr val="F9C74F"/>
                </a:solidFill>
                <a:latin typeface="Verdana"/>
                <a:ea typeface="Verdana"/>
                <a:cs typeface="Verdana"/>
                <a:sym typeface="Verdana"/>
              </a:rPr>
              <a:t>weight = "length"  (walking)   |   weight = "weight"  (wheelchair, after updateGraphWeights())</a:t>
            </a:r>
            <a:endParaRPr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52cd0ed50_1_106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Live Results </a:t>
            </a:r>
            <a:r>
              <a:rPr lang="en-US"/>
              <a:t>—</a:t>
            </a:r>
            <a:r>
              <a:rPr lang="en-US"/>
              <a:t> Shortest Path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f52cd0ed50_1_106"/>
          <p:cNvSpPr/>
          <p:nvPr/>
        </p:nvSpPr>
        <p:spPr>
          <a:xfrm>
            <a:off x="8749375" y="3529491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52cd0ed50_1_106"/>
          <p:cNvSpPr/>
          <p:nvPr/>
        </p:nvSpPr>
        <p:spPr>
          <a:xfrm>
            <a:off x="8833800" y="3584350"/>
            <a:ext cx="118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Bonn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Bad Godesberg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52cd0ed50_1_106"/>
          <p:cNvSpPr/>
          <p:nvPr/>
        </p:nvSpPr>
        <p:spPr>
          <a:xfrm>
            <a:off x="10126025" y="3602650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area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52cd0ed50_1_106"/>
          <p:cNvSpPr/>
          <p:nvPr/>
        </p:nvSpPr>
        <p:spPr>
          <a:xfrm>
            <a:off x="10126074" y="3986700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Constrained urban zone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f52cd0ed50_1_106" title="vlcsnap-2026-07-15-11h17m23s4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900" y="1389900"/>
            <a:ext cx="8106076" cy="53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52cd0ed50_1_153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Live Results — Shortest Path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f52cd0ed50_1_153"/>
          <p:cNvSpPr/>
          <p:nvPr/>
        </p:nvSpPr>
        <p:spPr>
          <a:xfrm>
            <a:off x="8749375" y="2651772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52cd0ed50_1_153"/>
          <p:cNvSpPr/>
          <p:nvPr/>
        </p:nvSpPr>
        <p:spPr>
          <a:xfrm>
            <a:off x="8833803" y="2706636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weight</a:t>
            </a:r>
            <a:b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44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52cd0ed50_1_153"/>
          <p:cNvSpPr/>
          <p:nvPr/>
        </p:nvSpPr>
        <p:spPr>
          <a:xfrm>
            <a:off x="9931370" y="2724924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Accessibility cost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52cd0ed50_1_153"/>
          <p:cNvSpPr/>
          <p:nvPr/>
        </p:nvSpPr>
        <p:spPr>
          <a:xfrm>
            <a:off x="9931370" y="3108972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Reflects slope + surface</a:t>
            </a:r>
            <a:endParaRPr sz="1200">
              <a:solidFill>
                <a:srgbClr val="B0C4C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52cd0ed50_1_153"/>
          <p:cNvSpPr/>
          <p:nvPr/>
        </p:nvSpPr>
        <p:spPr>
          <a:xfrm>
            <a:off x="8749375" y="4193716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52cd0ed50_1_153"/>
          <p:cNvSpPr/>
          <p:nvPr/>
        </p:nvSpPr>
        <p:spPr>
          <a:xfrm>
            <a:off x="8833800" y="4248575"/>
            <a:ext cx="118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Bonn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Bad Godesberg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52cd0ed50_1_153"/>
          <p:cNvSpPr/>
          <p:nvPr/>
        </p:nvSpPr>
        <p:spPr>
          <a:xfrm>
            <a:off x="10126025" y="4266875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area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52cd0ed50_1_153"/>
          <p:cNvSpPr/>
          <p:nvPr/>
        </p:nvSpPr>
        <p:spPr>
          <a:xfrm>
            <a:off x="10126074" y="4650925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Constrained urban zone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g3f52cd0ed50_1_153" title="vlcsnap-2026-07-15-11h17m58s7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50" y="1389900"/>
            <a:ext cx="8120525" cy="53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5163d33b3_0_56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Algorithm: Alternative Paths</a:t>
            </a:r>
            <a:endParaRPr/>
          </a:p>
        </p:txBody>
      </p:sp>
      <p:sp>
        <p:nvSpPr>
          <p:cNvPr id="293" name="Google Shape;293;g3f5163d33b3_0_56"/>
          <p:cNvSpPr/>
          <p:nvPr/>
        </p:nvSpPr>
        <p:spPr>
          <a:xfrm>
            <a:off x="381600" y="1127878"/>
            <a:ext cx="11155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_alternative_paths()  ·  8-step pipeline  ·  Abraham et al. [2013] simplified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4" name="Google Shape;294;g3f5163d33b3_0_56"/>
          <p:cNvSpPr/>
          <p:nvPr/>
        </p:nvSpPr>
        <p:spPr>
          <a:xfrm>
            <a:off x="433870" y="1553533"/>
            <a:ext cx="5577900" cy="117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5" name="Google Shape;295;g3f5163d33b3_0_56"/>
          <p:cNvSpPr/>
          <p:nvPr/>
        </p:nvSpPr>
        <p:spPr>
          <a:xfrm>
            <a:off x="571030" y="1690693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6" name="Google Shape;296;g3f5163d33b3_0_56"/>
          <p:cNvSpPr/>
          <p:nvPr/>
        </p:nvSpPr>
        <p:spPr>
          <a:xfrm>
            <a:off x="571030" y="169069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7" name="Google Shape;297;g3f5163d33b3_0_56"/>
          <p:cNvSpPr/>
          <p:nvPr/>
        </p:nvSpPr>
        <p:spPr>
          <a:xfrm>
            <a:off x="1137958" y="1663261"/>
            <a:ext cx="47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Snap + validate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g3f5163d33b3_0_56"/>
          <p:cNvSpPr/>
          <p:nvPr/>
        </p:nvSpPr>
        <p:spPr>
          <a:xfrm>
            <a:off x="1137958" y="1974157"/>
            <a:ext cx="470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Find closest node -&gt;</a:t>
            </a: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 source, target. </a:t>
            </a:r>
            <a:b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Guard: same node, missing node, no path.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g3f5163d33b3_0_56"/>
          <p:cNvSpPr/>
          <p:nvPr/>
        </p:nvSpPr>
        <p:spPr>
          <a:xfrm>
            <a:off x="6240310" y="1553533"/>
            <a:ext cx="5577900" cy="117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0" name="Google Shape;300;g3f5163d33b3_0_56"/>
          <p:cNvSpPr/>
          <p:nvPr/>
        </p:nvSpPr>
        <p:spPr>
          <a:xfrm>
            <a:off x="6377470" y="1690693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1" name="Google Shape;301;g3f5163d33b3_0_56"/>
          <p:cNvSpPr/>
          <p:nvPr/>
        </p:nvSpPr>
        <p:spPr>
          <a:xfrm>
            <a:off x="6377470" y="169069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2" name="Google Shape;302;g3f5163d33b3_0_56"/>
          <p:cNvSpPr/>
          <p:nvPr/>
        </p:nvSpPr>
        <p:spPr>
          <a:xfrm>
            <a:off x="6944398" y="1663261"/>
            <a:ext cx="47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Compute Opt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g3f5163d33b3_0_56"/>
          <p:cNvSpPr/>
          <p:nvPr/>
        </p:nvSpPr>
        <p:spPr>
          <a:xfrm>
            <a:off x="6944398" y="1974157"/>
            <a:ext cx="470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All constraints expressed as multiples of l_opt.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4" name="Google Shape;304;g3f5163d33b3_0_56"/>
          <p:cNvSpPr/>
          <p:nvPr/>
        </p:nvSpPr>
        <p:spPr>
          <a:xfrm>
            <a:off x="433870" y="2851981"/>
            <a:ext cx="5577900" cy="117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5" name="Google Shape;305;g3f5163d33b3_0_56"/>
          <p:cNvSpPr/>
          <p:nvPr/>
        </p:nvSpPr>
        <p:spPr>
          <a:xfrm>
            <a:off x="571030" y="2989141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6" name="Google Shape;306;g3f5163d33b3_0_56"/>
          <p:cNvSpPr/>
          <p:nvPr/>
        </p:nvSpPr>
        <p:spPr>
          <a:xfrm>
            <a:off x="571030" y="298914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7" name="Google Shape;307;g3f5163d33b3_0_56"/>
          <p:cNvSpPr/>
          <p:nvPr/>
        </p:nvSpPr>
        <p:spPr>
          <a:xfrm>
            <a:off x="1137958" y="2961709"/>
            <a:ext cx="47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Forward Dijkstra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8" name="Google Shape;308;g3f5163d33b3_0_56"/>
          <p:cNvSpPr/>
          <p:nvPr/>
        </p:nvSpPr>
        <p:spPr>
          <a:xfrm>
            <a:off x="1137958" y="3272605"/>
            <a:ext cx="470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Returns dist_s, paths_s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9" name="Google Shape;309;g3f5163d33b3_0_56"/>
          <p:cNvSpPr/>
          <p:nvPr/>
        </p:nvSpPr>
        <p:spPr>
          <a:xfrm>
            <a:off x="6240310" y="2851981"/>
            <a:ext cx="5577900" cy="117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0" name="Google Shape;310;g3f5163d33b3_0_56"/>
          <p:cNvSpPr/>
          <p:nvPr/>
        </p:nvSpPr>
        <p:spPr>
          <a:xfrm>
            <a:off x="6377470" y="2989141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1" name="Google Shape;311;g3f5163d33b3_0_56"/>
          <p:cNvSpPr/>
          <p:nvPr/>
        </p:nvSpPr>
        <p:spPr>
          <a:xfrm>
            <a:off x="6377470" y="298914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2" name="Google Shape;312;g3f5163d33b3_0_56"/>
          <p:cNvSpPr/>
          <p:nvPr/>
        </p:nvSpPr>
        <p:spPr>
          <a:xfrm>
            <a:off x="6944398" y="2961709"/>
            <a:ext cx="47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Backward Dijkstra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3" name="Google Shape;313;g3f5163d33b3_0_56"/>
          <p:cNvSpPr/>
          <p:nvPr/>
        </p:nvSpPr>
        <p:spPr>
          <a:xfrm>
            <a:off x="6944398" y="3272605"/>
            <a:ext cx="470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Reverse graph. Returns dist_t, paths_t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4" name="Google Shape;314;g3f5163d33b3_0_56"/>
          <p:cNvSpPr/>
          <p:nvPr/>
        </p:nvSpPr>
        <p:spPr>
          <a:xfrm>
            <a:off x="433870" y="4150429"/>
            <a:ext cx="5577900" cy="117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5" name="Google Shape;315;g3f5163d33b3_0_56"/>
          <p:cNvSpPr/>
          <p:nvPr/>
        </p:nvSpPr>
        <p:spPr>
          <a:xfrm>
            <a:off x="571030" y="4287589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6" name="Google Shape;316;g3f5163d33b3_0_56"/>
          <p:cNvSpPr/>
          <p:nvPr/>
        </p:nvSpPr>
        <p:spPr>
          <a:xfrm>
            <a:off x="571030" y="42875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7" name="Google Shape;317;g3f5163d33b3_0_56"/>
          <p:cNvSpPr/>
          <p:nvPr/>
        </p:nvSpPr>
        <p:spPr>
          <a:xfrm>
            <a:off x="1137958" y="4260157"/>
            <a:ext cx="47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UBS filter — constraint (c)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8" name="Google Shape;318;g3f5163d33b3_0_56"/>
          <p:cNvSpPr/>
          <p:nvPr/>
        </p:nvSpPr>
        <p:spPr>
          <a:xfrm>
            <a:off x="1137958" y="4571053"/>
            <a:ext cx="470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Keep via-node v </a:t>
            </a:r>
            <a:b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where d_s(v)+d_t(v) ≤ (1+ε)·l_opt.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Eliminate the rest before expensive checks.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9" name="Google Shape;319;g3f5163d33b3_0_56"/>
          <p:cNvSpPr/>
          <p:nvPr/>
        </p:nvSpPr>
        <p:spPr>
          <a:xfrm>
            <a:off x="6240310" y="4150429"/>
            <a:ext cx="5577900" cy="117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0" name="Google Shape;320;g3f5163d33b3_0_56"/>
          <p:cNvSpPr/>
          <p:nvPr/>
        </p:nvSpPr>
        <p:spPr>
          <a:xfrm>
            <a:off x="6377470" y="4287589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1" name="Google Shape;321;g3f5163d33b3_0_56"/>
          <p:cNvSpPr/>
          <p:nvPr/>
        </p:nvSpPr>
        <p:spPr>
          <a:xfrm>
            <a:off x="6377470" y="42875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2" name="Google Shape;322;g3f5163d33b3_0_56"/>
          <p:cNvSpPr/>
          <p:nvPr/>
        </p:nvSpPr>
        <p:spPr>
          <a:xfrm>
            <a:off x="6944398" y="4260157"/>
            <a:ext cx="47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Constraints (a) + (b)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3" name="Google Shape;323;g3f5163d33b3_0_56"/>
          <p:cNvSpPr/>
          <p:nvPr/>
        </p:nvSpPr>
        <p:spPr>
          <a:xfrm>
            <a:off x="6944398" y="4571053"/>
            <a:ext cx="470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(a) Sharing: shared_cost ≤ γ·l_opt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(b) T-test: sub-path must be a shortest path [skipped in fast_mode]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4" name="Google Shape;324;g3f5163d33b3_0_56"/>
          <p:cNvSpPr/>
          <p:nvPr/>
        </p:nvSpPr>
        <p:spPr>
          <a:xfrm>
            <a:off x="433870" y="5448877"/>
            <a:ext cx="5577900" cy="117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5" name="Google Shape;325;g3f5163d33b3_0_56"/>
          <p:cNvSpPr/>
          <p:nvPr/>
        </p:nvSpPr>
        <p:spPr>
          <a:xfrm>
            <a:off x="571030" y="5586037"/>
            <a:ext cx="457200" cy="457200"/>
          </a:xfrm>
          <a:prstGeom prst="ellipse">
            <a:avLst/>
          </a:prstGeom>
          <a:solidFill>
            <a:srgbClr val="02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6" name="Google Shape;326;g3f5163d33b3_0_56"/>
          <p:cNvSpPr/>
          <p:nvPr/>
        </p:nvSpPr>
        <p:spPr>
          <a:xfrm>
            <a:off x="571030" y="558603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7" name="Google Shape;327;g3f5163d33b3_0_56"/>
          <p:cNvSpPr/>
          <p:nvPr/>
        </p:nvSpPr>
        <p:spPr>
          <a:xfrm>
            <a:off x="1137958" y="5558605"/>
            <a:ext cx="47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Score + de-duplicate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8" name="Google Shape;328;g3f5163d33b3_0_56"/>
          <p:cNvSpPr/>
          <p:nvPr/>
        </p:nvSpPr>
        <p:spPr>
          <a:xfrm>
            <a:off x="1137958" y="5869501"/>
            <a:ext cx="470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Drop alternatives too similar to each other.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9" name="Google Shape;329;g3f5163d33b3_0_56"/>
          <p:cNvSpPr/>
          <p:nvPr/>
        </p:nvSpPr>
        <p:spPr>
          <a:xfrm>
            <a:off x="6240310" y="5448877"/>
            <a:ext cx="5577900" cy="117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0" name="Google Shape;330;g3f5163d33b3_0_56"/>
          <p:cNvSpPr/>
          <p:nvPr/>
        </p:nvSpPr>
        <p:spPr>
          <a:xfrm>
            <a:off x="6377470" y="5586037"/>
            <a:ext cx="457200" cy="457200"/>
          </a:xfrm>
          <a:prstGeom prst="ellipse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1" name="Google Shape;331;g3f5163d33b3_0_56"/>
          <p:cNvSpPr/>
          <p:nvPr/>
        </p:nvSpPr>
        <p:spPr>
          <a:xfrm>
            <a:off x="6377470" y="558603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2" name="Google Shape;332;g3f5163d33b3_0_56"/>
          <p:cNvSpPr/>
          <p:nvPr/>
        </p:nvSpPr>
        <p:spPr>
          <a:xfrm>
            <a:off x="6944398" y="5558605"/>
            <a:ext cx="47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3" name="Google Shape;333;g3f5163d33b3_0_56"/>
          <p:cNvSpPr/>
          <p:nvPr/>
        </p:nvSpPr>
        <p:spPr>
          <a:xfrm>
            <a:off x="6944398" y="5869501"/>
            <a:ext cx="470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[opt_path] + up to 2 admissible alternatives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"/>
          <p:cNvSpPr txBox="1"/>
          <p:nvPr>
            <p:ph type="title"/>
          </p:nvPr>
        </p:nvSpPr>
        <p:spPr>
          <a:xfrm>
            <a:off x="381600" y="381600"/>
            <a:ext cx="114365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Walking vs. Wheelchair Mode</a:t>
            </a:r>
            <a:endParaRPr/>
          </a:p>
        </p:txBody>
      </p:sp>
      <p:sp>
        <p:nvSpPr>
          <p:cNvPr id="339" name="Google Shape;339;p4"/>
          <p:cNvSpPr/>
          <p:nvPr/>
        </p:nvSpPr>
        <p:spPr>
          <a:xfrm>
            <a:off x="381600" y="1127878"/>
            <a:ext cx="11155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Same algorithm · different edge weight · different parameters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0" name="Google Shape;340;p4"/>
          <p:cNvSpPr/>
          <p:nvPr/>
        </p:nvSpPr>
        <p:spPr>
          <a:xfrm>
            <a:off x="502920" y="6382512"/>
            <a:ext cx="11155800" cy="347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"/>
          <p:cNvSpPr/>
          <p:nvPr/>
        </p:nvSpPr>
        <p:spPr>
          <a:xfrm>
            <a:off x="594360" y="6409944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One _alternative_paths() function handles both modes — only the weight string and three parameter values change.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42" name="Google Shape;342;p4"/>
          <p:cNvGraphicFramePr/>
          <p:nvPr/>
        </p:nvGraphicFramePr>
        <p:xfrm>
          <a:off x="502925" y="148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{204F331F-3DD7-484E-81FD-3C7EDD434BB2}</a:tableStyleId>
              </a:tblPr>
              <a:tblGrid>
                <a:gridCol w="5716125"/>
                <a:gridCol w="5256675"/>
              </a:tblGrid>
              <a:tr h="65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Cambria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Walking</a:t>
                      </a:r>
                      <a:endParaRPr sz="2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2C39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weight = "length"  (geographic metres)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Cambria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Wheelchair</a:t>
                      </a:r>
                      <a:endParaRPr sz="2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4A26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weight = "weight"  (accessibility cost)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Standard OSM edge distance — no pre-processing needed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updateGraphWeights() penalises steep slopes, poor surfaces, missing kerb cuts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Dense urban road network → alternatives easy to surface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Fewer navigable paths → relaxed parameters needed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ε = 0.25 — max 25% longer than optimal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ε = 0.35 — allows 35% longer routes to find accessible alternatives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γ = 0.65 — alternatives must use distinct corridors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γ = 0.70 — accessible corridors are sparse; some sharing is acceptable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α = 0.25 — every 25%-of-route sub-segment checked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α = 0.20 — looser: accessible sub-paths may be locally sub-optimal around obstacles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T-test at T = 0.25 × l_opt (Lemma 4.1)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Same T-test logic — different T value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3" name="Google Shape;343;p4"/>
          <p:cNvSpPr/>
          <p:nvPr/>
        </p:nvSpPr>
        <p:spPr>
          <a:xfrm>
            <a:off x="664150" y="1544850"/>
            <a:ext cx="640200" cy="5823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"/>
          <p:cNvSpPr/>
          <p:nvPr/>
        </p:nvSpPr>
        <p:spPr>
          <a:xfrm>
            <a:off x="664145" y="1515895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🚶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"/>
          <p:cNvSpPr/>
          <p:nvPr/>
        </p:nvSpPr>
        <p:spPr>
          <a:xfrm>
            <a:off x="6288500" y="1544850"/>
            <a:ext cx="640200" cy="5823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21B33"/>
                </a:solidFill>
                <a:latin typeface="Calibri"/>
                <a:ea typeface="Calibri"/>
                <a:cs typeface="Calibri"/>
                <a:sym typeface="Calibri"/>
              </a:rPr>
              <a:t>♿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51dd656f3_0_39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Quality Constraints</a:t>
            </a:r>
            <a:endParaRPr/>
          </a:p>
        </p:txBody>
      </p:sp>
      <p:sp>
        <p:nvSpPr>
          <p:cNvPr id="351" name="Google Shape;351;g3f51dd656f3_0_39"/>
          <p:cNvSpPr/>
          <p:nvPr/>
        </p:nvSpPr>
        <p:spPr>
          <a:xfrm>
            <a:off x="381600" y="1103553"/>
            <a:ext cx="11155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Every alternative must satisfy all three — Abraham et al. [2013] Section 3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2" name="Google Shape;352;g3f51dd656f3_0_39"/>
          <p:cNvSpPr/>
          <p:nvPr/>
        </p:nvSpPr>
        <p:spPr>
          <a:xfrm>
            <a:off x="502925" y="1566501"/>
            <a:ext cx="822900" cy="15969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3" name="Google Shape;353;g3f51dd656f3_0_39"/>
          <p:cNvSpPr/>
          <p:nvPr/>
        </p:nvSpPr>
        <p:spPr>
          <a:xfrm>
            <a:off x="502920" y="1977970"/>
            <a:ext cx="822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(a)</a:t>
            </a:r>
            <a:endParaRPr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4" name="Google Shape;354;g3f51dd656f3_0_39"/>
          <p:cNvSpPr/>
          <p:nvPr/>
        </p:nvSpPr>
        <p:spPr>
          <a:xfrm>
            <a:off x="1444752" y="1488072"/>
            <a:ext cx="484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Limited Sharing</a:t>
            </a:r>
            <a:endParaRPr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5" name="Google Shape;355;g3f51dd656f3_0_39"/>
          <p:cNvSpPr/>
          <p:nvPr/>
        </p:nvSpPr>
        <p:spPr>
          <a:xfrm>
            <a:off x="1444752" y="1826401"/>
            <a:ext cx="4846200" cy="3474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6" name="Google Shape;356;g3f51dd656f3_0_39"/>
          <p:cNvSpPr/>
          <p:nvPr/>
        </p:nvSpPr>
        <p:spPr>
          <a:xfrm>
            <a:off x="1508760" y="1844688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urier New"/>
              <a:buNone/>
            </a:pPr>
            <a:r>
              <a:rPr b="1" lang="en-US" u="none" cap="none" strike="noStrike">
                <a:solidFill>
                  <a:srgbClr val="1C7293"/>
                </a:solidFill>
                <a:latin typeface="Verdana"/>
                <a:ea typeface="Verdana"/>
                <a:cs typeface="Verdana"/>
                <a:sym typeface="Verdana"/>
              </a:rPr>
              <a:t>l(Opt ∩ P)  ≤  γ · l(Opt)</a:t>
            </a:r>
            <a:endParaRPr b="1" u="none" cap="none" strike="noStrike">
              <a:solidFill>
                <a:srgbClr val="1C729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7" name="Google Shape;357;g3f51dd656f3_0_39"/>
          <p:cNvSpPr/>
          <p:nvPr/>
        </p:nvSpPr>
        <p:spPr>
          <a:xfrm>
            <a:off x="1440200" y="2250763"/>
            <a:ext cx="96627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Ensures the alternative actually diverges </a:t>
            </a: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 not just a trivial detour that rejoins immediately.</a:t>
            </a:r>
            <a:endParaRPr i="0" u="none" cap="none" strike="noStrike"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t/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b="1"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Too low: no alternatives found in sparse areas.</a:t>
            </a: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 γ = 0.65 (walking) / 0.70 (wheelchair)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g3f51dd656f3_0_39"/>
          <p:cNvSpPr/>
          <p:nvPr/>
        </p:nvSpPr>
        <p:spPr>
          <a:xfrm>
            <a:off x="502925" y="3331550"/>
            <a:ext cx="822900" cy="1596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9" name="Google Shape;359;g3f51dd656f3_0_39"/>
          <p:cNvSpPr/>
          <p:nvPr/>
        </p:nvSpPr>
        <p:spPr>
          <a:xfrm>
            <a:off x="502920" y="3743030"/>
            <a:ext cx="822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(b)</a:t>
            </a:r>
            <a:endParaRPr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0" name="Google Shape;360;g3f51dd656f3_0_39"/>
          <p:cNvSpPr/>
          <p:nvPr/>
        </p:nvSpPr>
        <p:spPr>
          <a:xfrm>
            <a:off x="1444752" y="3377270"/>
            <a:ext cx="484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T-local Optimality</a:t>
            </a:r>
            <a:endParaRPr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" name="Google Shape;361;g3f51dd656f3_0_39"/>
          <p:cNvSpPr/>
          <p:nvPr/>
        </p:nvSpPr>
        <p:spPr>
          <a:xfrm>
            <a:off x="1444752" y="3715598"/>
            <a:ext cx="4846200" cy="3474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2" name="Google Shape;362;g3f51dd656f3_0_39"/>
          <p:cNvSpPr/>
          <p:nvPr/>
        </p:nvSpPr>
        <p:spPr>
          <a:xfrm>
            <a:off x="1508760" y="373388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urier New"/>
              <a:buNone/>
            </a:pPr>
            <a:r>
              <a:rPr b="1" lang="en-US" u="none" cap="none" strike="noStrike">
                <a:solidFill>
                  <a:srgbClr val="1C7293"/>
                </a:solidFill>
                <a:latin typeface="Verdana"/>
                <a:ea typeface="Verdana"/>
                <a:cs typeface="Verdana"/>
                <a:sym typeface="Verdana"/>
              </a:rPr>
              <a:t>P is T-locally optimal for T = α · l(Opt)</a:t>
            </a:r>
            <a:endParaRPr b="1" u="none" cap="none" strike="noStrike">
              <a:solidFill>
                <a:srgbClr val="1C729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3" name="Google Shape;363;g3f51dd656f3_0_39"/>
          <p:cNvSpPr/>
          <p:nvPr/>
        </p:nvSpPr>
        <p:spPr>
          <a:xfrm>
            <a:off x="1440200" y="4100399"/>
            <a:ext cx="96627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Prevents alternatives from containing obvious unnecessary detours that any driver would avoid</a:t>
            </a:r>
            <a:b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Skipped in fast_mode.</a:t>
            </a: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 α = 0.25 (walking) / 0.20 (wheelchair)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4" name="Google Shape;364;g3f51dd656f3_0_39"/>
          <p:cNvSpPr/>
          <p:nvPr/>
        </p:nvSpPr>
        <p:spPr>
          <a:xfrm>
            <a:off x="502925" y="5174474"/>
            <a:ext cx="822900" cy="1596900"/>
          </a:xfrm>
          <a:prstGeom prst="rect">
            <a:avLst/>
          </a:prstGeom>
          <a:solidFill>
            <a:srgbClr val="02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5" name="Google Shape;365;g3f51dd656f3_0_39"/>
          <p:cNvSpPr/>
          <p:nvPr/>
        </p:nvSpPr>
        <p:spPr>
          <a:xfrm>
            <a:off x="502920" y="5585964"/>
            <a:ext cx="822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(c)</a:t>
            </a:r>
            <a:endParaRPr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6" name="Google Shape;366;g3f51dd656f3_0_39"/>
          <p:cNvSpPr/>
          <p:nvPr/>
        </p:nvSpPr>
        <p:spPr>
          <a:xfrm>
            <a:off x="1444752" y="5220204"/>
            <a:ext cx="484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Uniformly Bounded Stretch (UBS)</a:t>
            </a:r>
            <a:endParaRPr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7" name="Google Shape;367;g3f51dd656f3_0_39"/>
          <p:cNvSpPr/>
          <p:nvPr/>
        </p:nvSpPr>
        <p:spPr>
          <a:xfrm>
            <a:off x="1444752" y="5558532"/>
            <a:ext cx="4846200" cy="3474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8" name="Google Shape;368;g3f51dd656f3_0_39"/>
          <p:cNvSpPr/>
          <p:nvPr/>
        </p:nvSpPr>
        <p:spPr>
          <a:xfrm>
            <a:off x="1508760" y="5576820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5E73"/>
              </a:buClr>
              <a:buSzPts val="1100"/>
              <a:buFont typeface="Courier New"/>
              <a:buNone/>
            </a:pPr>
            <a:r>
              <a:rPr b="1" lang="en-US" u="none" cap="none" strike="noStrike">
                <a:solidFill>
                  <a:srgbClr val="1C7293"/>
                </a:solidFill>
                <a:latin typeface="Verdana"/>
                <a:ea typeface="Verdana"/>
                <a:cs typeface="Verdana"/>
                <a:sym typeface="Verdana"/>
              </a:rPr>
              <a:t>l(P)  ≤  (1 + ε) · l(Opt)   for every sub-path</a:t>
            </a:r>
            <a:endParaRPr b="1" u="none" cap="none" strike="noStrike">
              <a:solidFill>
                <a:srgbClr val="1C729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9" name="Google Shape;369;g3f51dd656f3_0_39"/>
          <p:cNvSpPr/>
          <p:nvPr/>
        </p:nvSpPr>
        <p:spPr>
          <a:xfrm>
            <a:off x="1440200" y="5933425"/>
            <a:ext cx="96627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Ensures alternatives don't feel absurdly long — a path 3× longer than optimal is never useful.</a:t>
            </a:r>
            <a:endParaRPr i="0" u="none" cap="none" strike="noStrike"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t/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b="1"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Applied early as cheap pre-filter. </a:t>
            </a: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ε = 0.25 (walking) / 0.35 (wheelchair)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5163d33b3_0_157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Parameter Choice:  α  ·  γ  ·  ε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g3f5163d33b3_0_157"/>
          <p:cNvSpPr/>
          <p:nvPr/>
        </p:nvSpPr>
        <p:spPr>
          <a:xfrm>
            <a:off x="381600" y="1127878"/>
            <a:ext cx="11155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Set in main.py via the request object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6" name="Google Shape;376;g3f5163d33b3_0_157"/>
          <p:cNvSpPr/>
          <p:nvPr/>
        </p:nvSpPr>
        <p:spPr>
          <a:xfrm>
            <a:off x="594360" y="4425696"/>
            <a:ext cx="345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ε = 0.35 for wheelchair?</a:t>
            </a:r>
            <a:endParaRPr b="1" i="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7" name="Google Shape;377;g3f5163d33b3_0_157"/>
          <p:cNvSpPr/>
          <p:nvPr/>
        </p:nvSpPr>
        <p:spPr>
          <a:xfrm>
            <a:off x="548648" y="4832582"/>
            <a:ext cx="34290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50"/>
              <a:buFont typeface="Calibri"/>
              <a:buNone/>
            </a:pP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Accessible routes are fewer and inherently longer. A 25% stretch budget frequently returns zero alternatives. 35% surfaces meaningful alternatives without feeling absurd.</a:t>
            </a:r>
            <a:endParaRPr i="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8" name="Google Shape;378;g3f5163d33b3_0_157"/>
          <p:cNvSpPr/>
          <p:nvPr/>
        </p:nvSpPr>
        <p:spPr>
          <a:xfrm>
            <a:off x="4453128" y="4425696"/>
            <a:ext cx="345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γ = 0.65 for walking?</a:t>
            </a:r>
            <a:endParaRPr b="1" i="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9" name="Google Shape;379;g3f5163d33b3_0_157"/>
          <p:cNvSpPr/>
          <p:nvPr/>
        </p:nvSpPr>
        <p:spPr>
          <a:xfrm>
            <a:off x="4366316" y="4745807"/>
            <a:ext cx="34290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50"/>
              <a:buFont typeface="Calibri"/>
              <a:buNone/>
            </a:pP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Urban areas have many parallel roads. Requiring ≤65% sharing forces genuinely different corridors</a:t>
            </a:r>
            <a:r>
              <a:rPr lang="en-US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 not just a parallel street one block away.</a:t>
            </a:r>
            <a:endParaRPr i="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0" name="Google Shape;380;g3f5163d33b3_0_157"/>
          <p:cNvSpPr/>
          <p:nvPr/>
        </p:nvSpPr>
        <p:spPr>
          <a:xfrm>
            <a:off x="8311896" y="4425696"/>
            <a:ext cx="345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α = 0.20 for wheelchair?</a:t>
            </a:r>
            <a:endParaRPr b="1" i="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1" name="Google Shape;381;g3f5163d33b3_0_157"/>
          <p:cNvSpPr/>
          <p:nvPr/>
        </p:nvSpPr>
        <p:spPr>
          <a:xfrm>
            <a:off x="8325559" y="4745807"/>
            <a:ext cx="34290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50"/>
              <a:buFont typeface="Calibri"/>
              <a:buNone/>
            </a:pP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Accessible paths are sometimes forced to detour around obstacles (stairs, steep ramps). A looser T avoids rejecting valid but locally sub-optimal accessible routes.</a:t>
            </a:r>
            <a:endParaRPr i="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2" name="Google Shape;382;g3f5163d33b3_0_157"/>
          <p:cNvSpPr/>
          <p:nvPr/>
        </p:nvSpPr>
        <p:spPr>
          <a:xfrm>
            <a:off x="502920" y="6492240"/>
            <a:ext cx="111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lang="en-US" u="none" cap="none" strike="noStrike">
                <a:solidFill>
                  <a:srgbClr val="1C7293"/>
                </a:solidFill>
                <a:latin typeface="Verdana"/>
                <a:ea typeface="Verdana"/>
                <a:cs typeface="Verdana"/>
                <a:sym typeface="Verdana"/>
              </a:rPr>
              <a:t>ε also controls via_path_cutoff — callers set cutoff = 1+ε, keeping UBS and Dijkstra radius perfectly consistent.</a:t>
            </a:r>
            <a:endParaRPr u="none" cap="none" strike="noStrike">
              <a:solidFill>
                <a:srgbClr val="1C729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3" name="Google Shape;383;g3f5163d33b3_0_157"/>
          <p:cNvSpPr/>
          <p:nvPr/>
        </p:nvSpPr>
        <p:spPr>
          <a:xfrm flipH="1" rot="10800000">
            <a:off x="502850" y="4246537"/>
            <a:ext cx="11034600" cy="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84" name="Google Shape;384;g3f5163d33b3_0_157"/>
          <p:cNvGraphicFramePr/>
          <p:nvPr/>
        </p:nvGraphicFramePr>
        <p:xfrm>
          <a:off x="502925" y="149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{204F331F-3DD7-484E-81FD-3C7EDD434BB2}</a:tableStyleId>
              </a:tblPr>
              <a:tblGrid>
                <a:gridCol w="1405925"/>
                <a:gridCol w="1045000"/>
                <a:gridCol w="1333750"/>
                <a:gridCol w="1146025"/>
                <a:gridCol w="2950825"/>
                <a:gridCol w="3152925"/>
              </a:tblGrid>
              <a:tr h="56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Parameter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Walking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Wheelchair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Range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Effect of higher 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Effect of lower value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n-US">
                          <a:solidFill>
                            <a:srgbClr val="02C39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ε  (epsilon)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C74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F9C74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0.25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C74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F9C74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0.35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0.10–0.40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More candidates; alternatives may feel circuitous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Fewer candidates; often no alternatives in sparse graphs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2C39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γ  (gamma)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C74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F9C74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0.65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C74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F9C74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C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0.50–0.80</a:t>
                      </a:r>
                      <a:endParaRPr>
                        <a:solidFill>
                          <a:srgbClr val="66666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Alternatives can look very similar to Opt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Very distinct routes; may fail in areas with few roads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2C39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α  (alpha)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C74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F9C74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0.25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C74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F9C74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0.20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C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0.10–0.40</a:t>
                      </a:r>
                      <a:endParaRPr>
                        <a:solidFill>
                          <a:srgbClr val="66666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Stricter local-optimality; longer sub-paths verified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Looser; paths with short detour segments admitted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52cd0ed50_0_77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Live Results — Alternative Paths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g3f52cd0ed50_0_77"/>
          <p:cNvSpPr/>
          <p:nvPr/>
        </p:nvSpPr>
        <p:spPr>
          <a:xfrm>
            <a:off x="8749375" y="1661344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52cd0ed50_0_77"/>
          <p:cNvSpPr/>
          <p:nvPr/>
        </p:nvSpPr>
        <p:spPr>
          <a:xfrm>
            <a:off x="8833803" y="1716208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 paths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52cd0ed50_0_77"/>
          <p:cNvSpPr/>
          <p:nvPr/>
        </p:nvSpPr>
        <p:spPr>
          <a:xfrm>
            <a:off x="9931370" y="1734496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Distinct alternatives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52cd0ed50_0_77"/>
          <p:cNvSpPr/>
          <p:nvPr/>
        </p:nvSpPr>
        <p:spPr>
          <a:xfrm>
            <a:off x="9931370" y="2118544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Different accessible </a:t>
            </a: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pathways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52cd0ed50_0_77"/>
          <p:cNvSpPr/>
          <p:nvPr/>
        </p:nvSpPr>
        <p:spPr>
          <a:xfrm>
            <a:off x="8749225" y="3977166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f52cd0ed50_0_77"/>
          <p:cNvSpPr/>
          <p:nvPr/>
        </p:nvSpPr>
        <p:spPr>
          <a:xfrm>
            <a:off x="8833650" y="4032025"/>
            <a:ext cx="118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Bonn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Bad Godesberg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52cd0ed50_0_77"/>
          <p:cNvSpPr/>
          <p:nvPr/>
        </p:nvSpPr>
        <p:spPr>
          <a:xfrm>
            <a:off x="10125875" y="4050325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area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52cd0ed50_0_77"/>
          <p:cNvSpPr/>
          <p:nvPr/>
        </p:nvSpPr>
        <p:spPr>
          <a:xfrm>
            <a:off x="10125924" y="4434375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Constrained urban zone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52cd0ed50_0_77"/>
          <p:cNvSpPr/>
          <p:nvPr/>
        </p:nvSpPr>
        <p:spPr>
          <a:xfrm>
            <a:off x="8749375" y="6419100"/>
            <a:ext cx="2955300" cy="3657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f52cd0ed50_0_77"/>
          <p:cNvSpPr/>
          <p:nvPr/>
        </p:nvSpPr>
        <p:spPr>
          <a:xfrm>
            <a:off x="8819732" y="6437388"/>
            <a:ext cx="281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ε=0.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 γ=0.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α=0.2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(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walking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g3f52cd0ed50_0_77" title="vlcsnap-2026-07-15-11h18m47s3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00" y="1389900"/>
            <a:ext cx="8062776" cy="53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f52cd0ed50_1_129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Live Results — Alternative Paths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f52cd0ed50_1_129"/>
          <p:cNvSpPr/>
          <p:nvPr/>
        </p:nvSpPr>
        <p:spPr>
          <a:xfrm>
            <a:off x="8749225" y="3160957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52cd0ed50_1_129"/>
          <p:cNvSpPr/>
          <p:nvPr/>
        </p:nvSpPr>
        <p:spPr>
          <a:xfrm>
            <a:off x="8833653" y="3215821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 paths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52cd0ed50_1_129"/>
          <p:cNvSpPr/>
          <p:nvPr/>
        </p:nvSpPr>
        <p:spPr>
          <a:xfrm>
            <a:off x="9931220" y="3234109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Distinct alternatives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52cd0ed50_1_129"/>
          <p:cNvSpPr/>
          <p:nvPr/>
        </p:nvSpPr>
        <p:spPr>
          <a:xfrm>
            <a:off x="9931220" y="3618157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Different accessible </a:t>
            </a: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pathways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52cd0ed50_1_129"/>
          <p:cNvSpPr/>
          <p:nvPr/>
        </p:nvSpPr>
        <p:spPr>
          <a:xfrm>
            <a:off x="8749375" y="4858841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52cd0ed50_1_129"/>
          <p:cNvSpPr/>
          <p:nvPr/>
        </p:nvSpPr>
        <p:spPr>
          <a:xfrm>
            <a:off x="8833800" y="4913700"/>
            <a:ext cx="118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Bonn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Bad Godesberg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52cd0ed50_1_129"/>
          <p:cNvSpPr/>
          <p:nvPr/>
        </p:nvSpPr>
        <p:spPr>
          <a:xfrm>
            <a:off x="10126025" y="4932000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area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52cd0ed50_1_129"/>
          <p:cNvSpPr/>
          <p:nvPr/>
        </p:nvSpPr>
        <p:spPr>
          <a:xfrm>
            <a:off x="10126074" y="5316050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Constrained urban zone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52cd0ed50_1_129"/>
          <p:cNvSpPr/>
          <p:nvPr/>
        </p:nvSpPr>
        <p:spPr>
          <a:xfrm>
            <a:off x="8749375" y="6419100"/>
            <a:ext cx="2955300" cy="3657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52cd0ed50_1_129"/>
          <p:cNvSpPr/>
          <p:nvPr/>
        </p:nvSpPr>
        <p:spPr>
          <a:xfrm>
            <a:off x="8819732" y="6437388"/>
            <a:ext cx="281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ε=0.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 γ=0.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70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α=0.2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(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wheelchair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g3f52cd0ed50_1_129" title="vlcsnap-2026-07-15-11h19m16s5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00" y="1389900"/>
            <a:ext cx="8062776" cy="539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52cd0ed50_1_129"/>
          <p:cNvSpPr/>
          <p:nvPr/>
        </p:nvSpPr>
        <p:spPr>
          <a:xfrm>
            <a:off x="8749225" y="1389897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52cd0ed50_1_129"/>
          <p:cNvSpPr/>
          <p:nvPr/>
        </p:nvSpPr>
        <p:spPr>
          <a:xfrm>
            <a:off x="8833653" y="1444761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weight</a:t>
            </a:r>
            <a:b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42-43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52cd0ed50_1_129"/>
          <p:cNvSpPr/>
          <p:nvPr/>
        </p:nvSpPr>
        <p:spPr>
          <a:xfrm>
            <a:off x="9931220" y="1463049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Accessibility cost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52cd0ed50_1_129"/>
          <p:cNvSpPr/>
          <p:nvPr/>
        </p:nvSpPr>
        <p:spPr>
          <a:xfrm>
            <a:off x="9931220" y="1847097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Reflects slope + surface</a:t>
            </a:r>
            <a:endParaRPr sz="1200">
              <a:solidFill>
                <a:srgbClr val="B0C4C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51dd656f3_0_174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Optimization: fast_mode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f51dd656f3_0_174"/>
          <p:cNvSpPr/>
          <p:nvPr/>
        </p:nvSpPr>
        <p:spPr>
          <a:xfrm>
            <a:off x="381600" y="1127878"/>
            <a:ext cx="11155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300"/>
              <a:buFont typeface="Calibri"/>
              <a:buNone/>
            </a:pP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Optional speedup add-on — fast_mode=False preserves the full algorithm</a:t>
            </a:r>
            <a:endParaRPr>
              <a:solidFill>
                <a:srgbClr val="4A65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7" name="Google Shape;427;g3f51dd656f3_0_174"/>
          <p:cNvSpPr/>
          <p:nvPr/>
        </p:nvSpPr>
        <p:spPr>
          <a:xfrm>
            <a:off x="3329900" y="1867898"/>
            <a:ext cx="8339400" cy="1524900"/>
          </a:xfrm>
          <a:prstGeom prst="rect">
            <a:avLst/>
          </a:prstGeom>
          <a:solidFill>
            <a:srgbClr val="E8F4F8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8" name="Google Shape;428;g3f51dd656f3_0_174"/>
          <p:cNvSpPr/>
          <p:nvPr/>
        </p:nvSpPr>
        <p:spPr>
          <a:xfrm>
            <a:off x="3329903" y="1867908"/>
            <a:ext cx="2148900" cy="4023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9" name="Google Shape;429;g3f51dd656f3_0_174"/>
          <p:cNvSpPr/>
          <p:nvPr/>
        </p:nvSpPr>
        <p:spPr>
          <a:xfrm>
            <a:off x="3329903" y="1867908"/>
            <a:ext cx="214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Speedup 1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0" name="Google Shape;430;g3f51dd656f3_0_174"/>
          <p:cNvSpPr/>
          <p:nvPr/>
        </p:nvSpPr>
        <p:spPr>
          <a:xfrm>
            <a:off x="3476207" y="2270244"/>
            <a:ext cx="80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Spatial Grid Clustering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1" name="Google Shape;431;g3f51dd656f3_0_174"/>
          <p:cNvSpPr/>
          <p:nvPr/>
        </p:nvSpPr>
        <p:spPr>
          <a:xfrm>
            <a:off x="3476200" y="2562849"/>
            <a:ext cx="804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1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Groups via-node candidates into ~200 m grid cells (OSM x/y node attributes). Only the cheapest candidate per cell enters the inner loop. Via-nodes in the same cell produce near-identical paths</a:t>
            </a:r>
            <a:r>
              <a:rPr lang="en-US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 discarding the more expensive one is safe.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2" name="Google Shape;432;g3f51dd656f3_0_174"/>
          <p:cNvSpPr/>
          <p:nvPr/>
        </p:nvSpPr>
        <p:spPr>
          <a:xfrm>
            <a:off x="3329800" y="3631001"/>
            <a:ext cx="8339400" cy="1685400"/>
          </a:xfrm>
          <a:prstGeom prst="rect">
            <a:avLst/>
          </a:prstGeom>
          <a:solidFill>
            <a:srgbClr val="E8F4F8"/>
          </a:solidFill>
          <a:ln>
            <a:noFill/>
          </a:ln>
          <a:effectLst>
            <a:outerShdw blurRad="63500" rotWithShape="0" algn="bl" dir="2700000" dist="254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3" name="Google Shape;433;g3f51dd656f3_0_174"/>
          <p:cNvSpPr/>
          <p:nvPr/>
        </p:nvSpPr>
        <p:spPr>
          <a:xfrm>
            <a:off x="3329803" y="3630998"/>
            <a:ext cx="2148900" cy="4023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4" name="Google Shape;434;g3f51dd656f3_0_174"/>
          <p:cNvSpPr/>
          <p:nvPr/>
        </p:nvSpPr>
        <p:spPr>
          <a:xfrm>
            <a:off x="3329803" y="3630998"/>
            <a:ext cx="214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Speedup 2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5" name="Google Shape;435;g3f51dd656f3_0_174"/>
          <p:cNvSpPr/>
          <p:nvPr/>
        </p:nvSpPr>
        <p:spPr>
          <a:xfrm>
            <a:off x="3476107" y="4033334"/>
            <a:ext cx="80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T-test Bypass  (Constraint b skipped in fast_mode)</a:t>
            </a:r>
            <a:endParaRPr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6" name="Google Shape;436;g3f51dd656f3_0_174"/>
          <p:cNvSpPr/>
          <p:nvPr/>
        </p:nvSpPr>
        <p:spPr>
          <a:xfrm>
            <a:off x="3476100" y="4325957"/>
            <a:ext cx="8046600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1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In fast_mode, skipped entirely. UBS + sharing constraints still run. Lemma 4.2 guarantees admitted paths are at most 2T-suboptimal.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7" name="Google Shape;437;g3f51dd656f3_0_174"/>
          <p:cNvSpPr/>
          <p:nvPr/>
        </p:nvSpPr>
        <p:spPr>
          <a:xfrm>
            <a:off x="518095" y="5990890"/>
            <a:ext cx="11155800" cy="8046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8" name="Google Shape;438;g3f51dd656f3_0_174"/>
          <p:cNvSpPr/>
          <p:nvPr/>
        </p:nvSpPr>
        <p:spPr>
          <a:xfrm>
            <a:off x="673543" y="6054898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Quality trade-off: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9" name="Google Shape;439;g3f51dd656f3_0_174"/>
          <p:cNvSpPr/>
          <p:nvPr/>
        </p:nvSpPr>
        <p:spPr>
          <a:xfrm>
            <a:off x="2740087" y="6054898"/>
            <a:ext cx="8796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100"/>
              <a:buFont typeface="Calibri"/>
              <a:buNone/>
            </a:pPr>
            <a:r>
              <a:rPr i="0" lang="en-US" u="none" cap="none" strike="noStrike">
                <a:solidFill>
                  <a:srgbClr val="4A6572"/>
                </a:solidFill>
                <a:latin typeface="Verdana"/>
                <a:ea typeface="Verdana"/>
                <a:cs typeface="Verdana"/>
                <a:sym typeface="Verdana"/>
              </a:rPr>
              <a:t>fast_mode may admit paths that are not strictly T-locally-optimal, but empirically shows equal or higher success rate because the T-test was rejecting some valid alternatives. UBS and sharing guarantees are never relaxed.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0" name="Google Shape;440;g3f51dd656f3_0_174"/>
          <p:cNvSpPr/>
          <p:nvPr/>
        </p:nvSpPr>
        <p:spPr>
          <a:xfrm>
            <a:off x="369900" y="1867900"/>
            <a:ext cx="2633100" cy="34485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51dd656f3_0_174"/>
          <p:cNvSpPr/>
          <p:nvPr/>
        </p:nvSpPr>
        <p:spPr>
          <a:xfrm>
            <a:off x="446690" y="3648508"/>
            <a:ext cx="24795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average speedup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(12×12 grid,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1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30 queries)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2" name="Google Shape;442;g3f51dd656f3_0_174"/>
          <p:cNvSpPr/>
          <p:nvPr/>
        </p:nvSpPr>
        <p:spPr>
          <a:xfrm>
            <a:off x="719451" y="2270200"/>
            <a:ext cx="1920000" cy="14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5800"/>
              <a:buFont typeface="Cambria"/>
              <a:buNone/>
            </a:pPr>
            <a:r>
              <a:rPr b="1" lang="en-US" sz="5800">
                <a:solidFill>
                  <a:srgbClr val="02C39A"/>
                </a:solidFill>
                <a:latin typeface="Verdana"/>
                <a:ea typeface="Verdana"/>
                <a:cs typeface="Verdana"/>
                <a:sym typeface="Verdana"/>
              </a:rPr>
              <a:t>~2</a:t>
            </a:r>
            <a:r>
              <a:rPr b="1" i="0" lang="en-US" sz="5800" u="none" cap="none" strike="noStrike">
                <a:solidFill>
                  <a:srgbClr val="02C39A"/>
                </a:solidFill>
                <a:latin typeface="Verdana"/>
                <a:ea typeface="Verdana"/>
                <a:cs typeface="Verdana"/>
                <a:sym typeface="Verdana"/>
              </a:rPr>
              <a:t>×</a:t>
            </a:r>
            <a:endParaRPr i="0" sz="5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52cd0ed50_1_178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Live Results — Regular Mode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g3f52cd0ed50_1_178"/>
          <p:cNvSpPr/>
          <p:nvPr/>
        </p:nvSpPr>
        <p:spPr>
          <a:xfrm>
            <a:off x="8749375" y="1389900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f52cd0ed50_1_178"/>
          <p:cNvSpPr/>
          <p:nvPr/>
        </p:nvSpPr>
        <p:spPr>
          <a:xfrm>
            <a:off x="8833803" y="1444764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713</a:t>
            </a: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 ms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52cd0ed50_1_178"/>
          <p:cNvSpPr/>
          <p:nvPr/>
        </p:nvSpPr>
        <p:spPr>
          <a:xfrm>
            <a:off x="9931370" y="1463052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f52cd0ed50_1_178"/>
          <p:cNvSpPr/>
          <p:nvPr/>
        </p:nvSpPr>
        <p:spPr>
          <a:xfrm>
            <a:off x="9931370" y="1847100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Not optimized, better quality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52cd0ed50_1_178"/>
          <p:cNvSpPr/>
          <p:nvPr/>
        </p:nvSpPr>
        <p:spPr>
          <a:xfrm>
            <a:off x="8749375" y="2651772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f52cd0ed50_1_178"/>
          <p:cNvSpPr/>
          <p:nvPr/>
        </p:nvSpPr>
        <p:spPr>
          <a:xfrm>
            <a:off x="8833803" y="2706636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False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52cd0ed50_1_178"/>
          <p:cNvSpPr/>
          <p:nvPr/>
        </p:nvSpPr>
        <p:spPr>
          <a:xfrm>
            <a:off x="9931370" y="2724924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fast_mode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f52cd0ed50_1_178"/>
          <p:cNvSpPr/>
          <p:nvPr/>
        </p:nvSpPr>
        <p:spPr>
          <a:xfrm>
            <a:off x="9931370" y="3108972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Regular Abraham et al. [2013] algorithm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52cd0ed50_1_178"/>
          <p:cNvSpPr/>
          <p:nvPr/>
        </p:nvSpPr>
        <p:spPr>
          <a:xfrm>
            <a:off x="8749375" y="3913644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52cd0ed50_1_178"/>
          <p:cNvSpPr/>
          <p:nvPr/>
        </p:nvSpPr>
        <p:spPr>
          <a:xfrm>
            <a:off x="8833803" y="3968508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 paths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52cd0ed50_1_178"/>
          <p:cNvSpPr/>
          <p:nvPr/>
        </p:nvSpPr>
        <p:spPr>
          <a:xfrm>
            <a:off x="9931370" y="3986796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Distinct alternatives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52cd0ed50_1_178"/>
          <p:cNvSpPr/>
          <p:nvPr/>
        </p:nvSpPr>
        <p:spPr>
          <a:xfrm>
            <a:off x="9931370" y="4370844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Different accessible </a:t>
            </a: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pathways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52cd0ed50_1_178"/>
          <p:cNvSpPr/>
          <p:nvPr/>
        </p:nvSpPr>
        <p:spPr>
          <a:xfrm>
            <a:off x="8749375" y="5175516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f52cd0ed50_1_178"/>
          <p:cNvSpPr/>
          <p:nvPr/>
        </p:nvSpPr>
        <p:spPr>
          <a:xfrm>
            <a:off x="8833800" y="5230375"/>
            <a:ext cx="118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Bonn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Bad Godesberg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52cd0ed50_1_178"/>
          <p:cNvSpPr/>
          <p:nvPr/>
        </p:nvSpPr>
        <p:spPr>
          <a:xfrm>
            <a:off x="10126025" y="5248675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area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52cd0ed50_1_178"/>
          <p:cNvSpPr/>
          <p:nvPr/>
        </p:nvSpPr>
        <p:spPr>
          <a:xfrm>
            <a:off x="10126074" y="5632725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Constrained urban zone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52cd0ed50_1_178"/>
          <p:cNvSpPr/>
          <p:nvPr/>
        </p:nvSpPr>
        <p:spPr>
          <a:xfrm>
            <a:off x="8749375" y="6419100"/>
            <a:ext cx="2955300" cy="3657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f52cd0ed50_1_178"/>
          <p:cNvSpPr/>
          <p:nvPr/>
        </p:nvSpPr>
        <p:spPr>
          <a:xfrm>
            <a:off x="8819732" y="6437388"/>
            <a:ext cx="281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ε=0.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 γ=0.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α=0.2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(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walking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g3f52cd0ed50_1_178" title="Screenshot 2026-07-12 at 9.56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50" y="1389900"/>
            <a:ext cx="8120525" cy="53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52cd0ed50_1_25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Live Results — Fast Mode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g3f52cd0ed50_1_25"/>
          <p:cNvSpPr/>
          <p:nvPr/>
        </p:nvSpPr>
        <p:spPr>
          <a:xfrm>
            <a:off x="8749375" y="1389900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f52cd0ed50_1_25"/>
          <p:cNvSpPr/>
          <p:nvPr/>
        </p:nvSpPr>
        <p:spPr>
          <a:xfrm>
            <a:off x="8833803" y="1444764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3606</a:t>
            </a: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 ms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52cd0ed50_1_25"/>
          <p:cNvSpPr/>
          <p:nvPr/>
        </p:nvSpPr>
        <p:spPr>
          <a:xfrm>
            <a:off x="9931370" y="1463052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52cd0ed50_1_25"/>
          <p:cNvSpPr/>
          <p:nvPr/>
        </p:nvSpPr>
        <p:spPr>
          <a:xfrm>
            <a:off x="9931370" y="1847100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ptimized for speed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52cd0ed50_1_25"/>
          <p:cNvSpPr/>
          <p:nvPr/>
        </p:nvSpPr>
        <p:spPr>
          <a:xfrm>
            <a:off x="8749375" y="2651772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52cd0ed50_1_25"/>
          <p:cNvSpPr/>
          <p:nvPr/>
        </p:nvSpPr>
        <p:spPr>
          <a:xfrm>
            <a:off x="8833803" y="2706636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True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52cd0ed50_1_25"/>
          <p:cNvSpPr/>
          <p:nvPr/>
        </p:nvSpPr>
        <p:spPr>
          <a:xfrm>
            <a:off x="9931370" y="2724924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fast_mode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52cd0ed50_1_25"/>
          <p:cNvSpPr/>
          <p:nvPr/>
        </p:nvSpPr>
        <p:spPr>
          <a:xfrm>
            <a:off x="9931370" y="3108972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Optimized Abraham et al. [2013] algorithm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52cd0ed50_1_25"/>
          <p:cNvSpPr/>
          <p:nvPr/>
        </p:nvSpPr>
        <p:spPr>
          <a:xfrm>
            <a:off x="8749375" y="3913644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f52cd0ed50_1_25"/>
          <p:cNvSpPr/>
          <p:nvPr/>
        </p:nvSpPr>
        <p:spPr>
          <a:xfrm>
            <a:off x="8833803" y="3968508"/>
            <a:ext cx="1055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 paths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52cd0ed50_1_25"/>
          <p:cNvSpPr/>
          <p:nvPr/>
        </p:nvSpPr>
        <p:spPr>
          <a:xfrm>
            <a:off x="9931370" y="3986796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Distinct alternatives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52cd0ed50_1_25"/>
          <p:cNvSpPr/>
          <p:nvPr/>
        </p:nvSpPr>
        <p:spPr>
          <a:xfrm>
            <a:off x="9931370" y="4370844"/>
            <a:ext cx="16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Different accessible </a:t>
            </a:r>
            <a:r>
              <a:rPr lang="en-US" sz="1200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pathways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f52cd0ed50_1_25"/>
          <p:cNvSpPr/>
          <p:nvPr/>
        </p:nvSpPr>
        <p:spPr>
          <a:xfrm>
            <a:off x="8749375" y="5175516"/>
            <a:ext cx="2955300" cy="111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52cd0ed50_1_25"/>
          <p:cNvSpPr/>
          <p:nvPr/>
        </p:nvSpPr>
        <p:spPr>
          <a:xfrm>
            <a:off x="8833800" y="5230375"/>
            <a:ext cx="118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Bonn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Bad Godesberg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52cd0ed50_1_25"/>
          <p:cNvSpPr/>
          <p:nvPr/>
        </p:nvSpPr>
        <p:spPr>
          <a:xfrm>
            <a:off x="10126025" y="5248675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area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f52cd0ed50_1_25"/>
          <p:cNvSpPr/>
          <p:nvPr/>
        </p:nvSpPr>
        <p:spPr>
          <a:xfrm>
            <a:off x="10126074" y="5632725"/>
            <a:ext cx="147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b="0" lang="en-US" sz="1200" u="none" cap="none" strike="noStrike">
                <a:solidFill>
                  <a:srgbClr val="B0C4CE"/>
                </a:solidFill>
                <a:latin typeface="Calibri"/>
                <a:ea typeface="Calibri"/>
                <a:cs typeface="Calibri"/>
                <a:sym typeface="Calibri"/>
              </a:rPr>
              <a:t>Constrained urban zone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f52cd0ed50_1_25"/>
          <p:cNvSpPr/>
          <p:nvPr/>
        </p:nvSpPr>
        <p:spPr>
          <a:xfrm>
            <a:off x="8749375" y="6419100"/>
            <a:ext cx="2955300" cy="3657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52cd0ed50_1_25"/>
          <p:cNvSpPr/>
          <p:nvPr/>
        </p:nvSpPr>
        <p:spPr>
          <a:xfrm>
            <a:off x="8819732" y="6437388"/>
            <a:ext cx="281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ε=0.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 γ=0.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α=0.2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(</a:t>
            </a: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walking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g3f52cd0ed50_1_25" title="Screenshot 2026-07-12 at 9.57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50" y="1389900"/>
            <a:ext cx="8120525" cy="53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51dd656f3_0_306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Room for Improvement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f51dd656f3_0_306"/>
          <p:cNvSpPr/>
          <p:nvPr/>
        </p:nvSpPr>
        <p:spPr>
          <a:xfrm>
            <a:off x="571070" y="1510208"/>
            <a:ext cx="5486400" cy="203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7" name="Google Shape;497;g3f51dd656f3_0_306"/>
          <p:cNvSpPr/>
          <p:nvPr/>
        </p:nvSpPr>
        <p:spPr>
          <a:xfrm>
            <a:off x="571070" y="1510208"/>
            <a:ext cx="1920300" cy="347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8" name="Google Shape;498;g3f51dd656f3_0_306"/>
          <p:cNvSpPr/>
          <p:nvPr/>
        </p:nvSpPr>
        <p:spPr>
          <a:xfrm>
            <a:off x="571070" y="1510208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Proposed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9" name="Google Shape;499;g3f51dd656f3_0_306"/>
          <p:cNvSpPr/>
          <p:nvPr/>
        </p:nvSpPr>
        <p:spPr>
          <a:xfrm>
            <a:off x="708230" y="1921688"/>
            <a:ext cx="521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Route metadata in return value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0" name="Google Shape;500;g3f51dd656f3_0_306"/>
          <p:cNvSpPr/>
          <p:nvPr/>
        </p:nvSpPr>
        <p:spPr>
          <a:xfrm>
            <a:off x="708230" y="2314880"/>
            <a:ext cx="52122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Return {type, cost, coords} per path so the frontend can colour-code routes</a:t>
            </a:r>
            <a:r>
              <a:rPr lang="en-US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 the UI cannot distinguish optimal from alternatives.</a:t>
            </a:r>
            <a:endParaRPr i="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1" name="Google Shape;501;g3f51dd656f3_0_306"/>
          <p:cNvSpPr/>
          <p:nvPr/>
        </p:nvSpPr>
        <p:spPr>
          <a:xfrm>
            <a:off x="571070" y="3723056"/>
            <a:ext cx="5486400" cy="203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2700000" dist="38100">
              <a:srgbClr val="AAAAAA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2" name="Google Shape;502;g3f51dd656f3_0_306"/>
          <p:cNvSpPr/>
          <p:nvPr/>
        </p:nvSpPr>
        <p:spPr>
          <a:xfrm>
            <a:off x="571070" y="3723056"/>
            <a:ext cx="1920300" cy="347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3" name="Google Shape;503;g3f51dd656f3_0_306"/>
          <p:cNvSpPr/>
          <p:nvPr/>
        </p:nvSpPr>
        <p:spPr>
          <a:xfrm>
            <a:off x="571070" y="3723056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Proposed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4" name="Google Shape;504;g3f51dd656f3_0_306"/>
          <p:cNvSpPr/>
          <p:nvPr/>
        </p:nvSpPr>
        <p:spPr>
          <a:xfrm>
            <a:off x="708230" y="4134536"/>
            <a:ext cx="521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3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021B33"/>
                </a:solidFill>
                <a:latin typeface="Verdana"/>
                <a:ea typeface="Verdana"/>
                <a:cs typeface="Verdana"/>
                <a:sym typeface="Verdana"/>
              </a:rPr>
              <a:t>Cache the reversed graph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5" name="Google Shape;505;g3f51dd656f3_0_306"/>
          <p:cNvSpPr/>
          <p:nvPr/>
        </p:nvSpPr>
        <p:spPr>
          <a:xfrm>
            <a:off x="708230" y="4527728"/>
            <a:ext cx="52122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lang="en-US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O</a:t>
            </a: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n every alternative</a:t>
            </a:r>
            <a:r>
              <a:rPr lang="en-US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paths call</a:t>
            </a:r>
            <a:r>
              <a:rPr lang="en-US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 a large memory allocation happen</a:t>
            </a:r>
            <a:r>
              <a:rPr lang="en-US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 for city-scale OSM graphs. A </a:t>
            </a:r>
            <a:r>
              <a:rPr lang="en-US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function </a:t>
            </a:r>
            <a:r>
              <a:rPr i="0" lang="en-US" u="none" cap="none" strike="noStrike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that caches this at load time would eliminate the per-query cost entirely.</a:t>
            </a:r>
            <a:endParaRPr i="0" u="none" cap="none" strike="noStrik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51dd656f3_0_363"/>
          <p:cNvSpPr txBox="1"/>
          <p:nvPr>
            <p:ph type="title"/>
          </p:nvPr>
        </p:nvSpPr>
        <p:spPr>
          <a:xfrm>
            <a:off x="381600" y="381600"/>
            <a:ext cx="1143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f51dd656f3_0_363"/>
          <p:cNvSpPr/>
          <p:nvPr/>
        </p:nvSpPr>
        <p:spPr>
          <a:xfrm>
            <a:off x="1143000" y="6292520"/>
            <a:ext cx="9875400" cy="36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2" name="Google Shape;512;g3f51dd656f3_0_363"/>
          <p:cNvSpPr/>
          <p:nvPr/>
        </p:nvSpPr>
        <p:spPr>
          <a:xfrm>
            <a:off x="1143000" y="6411392"/>
            <a:ext cx="987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C4CE"/>
              </a:buClr>
              <a:buSzPts val="1000"/>
              <a:buFont typeface="Calibri"/>
              <a:buNone/>
            </a:pPr>
            <a:r>
              <a:rPr i="1" lang="en-US" u="none" cap="none" strike="noStrike">
                <a:solidFill>
                  <a:srgbClr val="B0C4CE"/>
                </a:solidFill>
                <a:latin typeface="Verdana"/>
                <a:ea typeface="Verdana"/>
                <a:cs typeface="Verdana"/>
                <a:sym typeface="Verdana"/>
              </a:rPr>
              <a:t>University of Bonn · MSc GSD · LBS Exercise  ·  Abraham</a:t>
            </a:r>
            <a:r>
              <a:rPr i="1" lang="en-US">
                <a:solidFill>
                  <a:srgbClr val="B0C4CE"/>
                </a:solidFill>
                <a:latin typeface="Verdana"/>
                <a:ea typeface="Verdana"/>
                <a:cs typeface="Verdana"/>
                <a:sym typeface="Verdana"/>
              </a:rPr>
              <a:t> et al.</a:t>
            </a:r>
            <a:r>
              <a:rPr i="1" lang="en-US" u="none" cap="none" strike="noStrike">
                <a:solidFill>
                  <a:srgbClr val="B0C4CE"/>
                </a:solidFill>
                <a:latin typeface="Verdana"/>
                <a:ea typeface="Verdana"/>
                <a:cs typeface="Verdana"/>
                <a:sym typeface="Verdana"/>
              </a:rPr>
              <a:t> [2013]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513" name="Google Shape;513;g3f51dd656f3_0_363"/>
          <p:cNvGraphicFramePr/>
          <p:nvPr/>
        </p:nvGraphicFramePr>
        <p:xfrm>
          <a:off x="583450" y="166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{204F331F-3DD7-484E-81FD-3C7EDD434BB2}</a:tableStyleId>
              </a:tblPr>
              <a:tblGrid>
                <a:gridCol w="1685650"/>
                <a:gridCol w="9308850"/>
              </a:tblGrid>
              <a:tr h="64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Graph</a:t>
                      </a: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One graph (built once), Two </a:t>
                      </a: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accessibility</a:t>
                      </a: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filters, Direction-aware, Round-trip safe</a:t>
                      </a:r>
                      <a:endParaRPr>
                        <a:solidFill>
                          <a:srgbClr val="66666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64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Algorithm: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Double-Dijkstra with (1+ε)-UBS cut off — simplified Abraham et al. [2013]</a:t>
                      </a:r>
                      <a:endParaRPr>
                        <a:solidFill>
                          <a:srgbClr val="66666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6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Constraints: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All three implemented: sharing (γ), T-local optimality (α), uniformly bounded stretch (ε)</a:t>
                      </a:r>
                      <a:endParaRPr>
                        <a:solidFill>
                          <a:srgbClr val="66666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Dual mode: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Single _alternative_paths() handles walking and wheelchair — only edge weight attribute changes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Parameters: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Externalised via request object: walking ε=0.25/γ=0.65/α=0.25 · wheelchair ε=0.35/γ=0.70/α=0.20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Speedup: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fast_mode: spatial grid clustering (~80% fewer candidates) + optional T-test skip → ~2× faster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Next steps:</a:t>
                      </a:r>
                      <a:endParaRPr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6666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Route metadata for frontend · cache reversed graph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52cd0ed50_0_0"/>
          <p:cNvSpPr txBox="1"/>
          <p:nvPr>
            <p:ph type="title"/>
          </p:nvPr>
        </p:nvSpPr>
        <p:spPr>
          <a:xfrm>
            <a:off x="3514650" y="2388475"/>
            <a:ext cx="516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Thanks for listening!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519" name="Google Shape;519;g3f52cd0ed50_0_0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73" y="5569704"/>
            <a:ext cx="1307100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Kopie von ProbRobotics">
  <a:themeElements>
    <a:clrScheme name="Kopie von ProbRobotic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2011-06-27T08:12:16Z</dcterms:created>
  <dc:creator>SCS</dc:creator>
</cp:coreProperties>
</file>